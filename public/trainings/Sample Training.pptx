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60" r:id="rId2"/>
    <p:sldId id="256" r:id="rId3"/>
    <p:sldId id="303" r:id="rId4"/>
    <p:sldId id="323" r:id="rId5"/>
    <p:sldId id="263" r:id="rId6"/>
    <p:sldId id="304" r:id="rId7"/>
    <p:sldId id="325" r:id="rId8"/>
    <p:sldId id="306" r:id="rId9"/>
    <p:sldId id="261" r:id="rId10"/>
    <p:sldId id="307" r:id="rId11"/>
    <p:sldId id="308" r:id="rId12"/>
    <p:sldId id="310" r:id="rId13"/>
    <p:sldId id="309" r:id="rId14"/>
    <p:sldId id="267" r:id="rId15"/>
    <p:sldId id="311" r:id="rId16"/>
    <p:sldId id="312" r:id="rId17"/>
    <p:sldId id="313" r:id="rId18"/>
    <p:sldId id="314" r:id="rId19"/>
    <p:sldId id="274" r:id="rId20"/>
    <p:sldId id="324" r:id="rId21"/>
    <p:sldId id="275" r:id="rId22"/>
    <p:sldId id="326" r:id="rId23"/>
    <p:sldId id="277" r:id="rId24"/>
    <p:sldId id="258" r:id="rId25"/>
    <p:sldId id="278" r:id="rId26"/>
    <p:sldId id="322" r:id="rId27"/>
    <p:sldId id="321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001" autoAdjust="0"/>
    <p:restoredTop sz="94660"/>
  </p:normalViewPr>
  <p:slideViewPr>
    <p:cSldViewPr snapToGrid="0">
      <p:cViewPr varScale="1">
        <p:scale>
          <a:sx n="78" d="100"/>
          <a:sy n="78" d="100"/>
        </p:scale>
        <p:origin x="124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1776B8-9881-409A-94F4-102A4DC59D0F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64703F-9D36-4191-BDC6-F3D0AEF741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5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64703F-9D36-4191-BDC6-F3D0AEF7412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554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DEABF-B3E8-BFDC-990F-0E5E6D1CE0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1DA852-A161-0B26-E13F-F001F1241C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DD8C7-2BAF-243D-2C85-FF86ED868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51C10-4602-4B8D-B771-3DD795EBD83E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A853B-8FBF-BFBB-6CD8-5A5B86B95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ADB92C-5D29-CA0D-A356-C93C22F55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66D48-7491-4F90-9E27-F15A194AF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972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FA1D0-0B19-6CB7-BB30-DA2B35EDE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05086-F250-49FB-76A2-DC00C53E7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7851B-5886-CCA9-2780-F39AEE9AE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51C10-4602-4B8D-B771-3DD795EBD83E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3EB417-FACB-9BC4-67B5-EB1DE38D3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C0E126-FE51-C0FE-7CBB-74C41FA40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66D48-7491-4F90-9E27-F15A194AF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17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7E9D9-FF18-B10B-9618-905920656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12640D-6F08-BC38-A39F-CF523B32C6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B16E1-7EDC-E412-BF7B-FF05C6AEF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51C10-4602-4B8D-B771-3DD795EBD83E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044E89-8243-E317-79BE-A41C5E2BD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5ABE95-9A58-C168-7646-5DDFA1555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66D48-7491-4F90-9E27-F15A194AF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694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F1C7E-82DD-90A6-D6F6-9ADADB862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21B07-87E9-FC3C-3047-E9F89E5CB7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C3987E-EA16-5B2D-33DD-EDD131C43C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A2CB83-3DD7-CAE8-F19B-51FE02165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51C10-4602-4B8D-B771-3DD795EBD83E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B20EEF-273C-DB07-62A1-2D1EE808E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0DE2C4-4FA8-284E-5882-9F2C0E4CC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66D48-7491-4F90-9E27-F15A194AF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031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67128-DC32-E6DC-0EFD-686707BDC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232F79-9400-053A-7EA0-DD4CBBA343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71E311-5CBB-CACA-0293-C23731B953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A6D8A0-16BE-1C49-B1D2-DC6BE8A56F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D9FBE3-964B-1407-655C-B32450FE01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C510F1-9789-1E3D-19D7-3EF726F7B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51C10-4602-4B8D-B771-3DD795EBD83E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6E83ED-1888-FD43-5180-CDD283B1F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283AEA-4692-0798-6A28-E486DEFF1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66D48-7491-4F90-9E27-F15A194AF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346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A31B7-AD05-0E17-4A60-03324B894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DEAC32-3E3D-BEC3-C344-3EEAC401D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51C10-4602-4B8D-B771-3DD795EBD83E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7D4666-60AC-6800-94D2-28068A5FC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EF5FBD-1CF2-5D1E-B92C-25305BFFE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66D48-7491-4F90-9E27-F15A194AF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402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E26EC0-FE1A-2DA4-A927-3947E0D45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51C10-4602-4B8D-B771-3DD795EBD83E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B2A2A1-D97A-BBA4-A013-E0B085834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0C03C2-2B21-DEAE-E606-28B5A28EC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66D48-7491-4F90-9E27-F15A194AF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16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0D462-E657-7230-B0A9-B1A3EA233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46AC3-2CD9-8673-4229-2A01FDB047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E68167-7C91-120F-A79B-E5B6140B25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57D336-35B7-FA64-682B-B54E88800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51C10-4602-4B8D-B771-3DD795EBD83E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8DB288-38B3-BE49-D69F-14D88A257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FEAA81-29D3-FC1B-E1A2-2BEEA72D7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66D48-7491-4F90-9E27-F15A194AF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880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3686F-D923-494C-4B61-AAA2071F9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8AD5B1-30BA-24AA-A835-24BB353FDC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E2A571-8771-2078-9B30-040F542DC0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1DFA16-4108-EB79-A31D-1DDE38562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51C10-4602-4B8D-B771-3DD795EBD83E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ABA379-0099-0A91-DB53-F4A9C46E0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B49B07-ACF9-92B2-01DE-DB3DD9886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66D48-7491-4F90-9E27-F15A194AF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647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150E6-8064-C05C-9751-0B3DE42C9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A5D30B-71BC-9D62-1E63-F5E471C34B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2ED7C2-01E6-E78A-D04C-8764F48C4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51C10-4602-4B8D-B771-3DD795EBD83E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8211C4-2374-0240-1360-DBDA3FD14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0C57D-1CE1-002D-71F6-61BF82AC7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66D48-7491-4F90-9E27-F15A194AF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180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6C8E13-3A29-1B28-B039-FF8276DD18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4B5E5D-F022-EE47-2BB2-DDB1424D00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CDF31A-9067-90B1-31C6-F7F77E326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51C10-4602-4B8D-B771-3DD795EBD83E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BF2FB0-B851-13E7-499C-FB324D1D5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D1E6EF-65A8-D4C4-98BB-80C79917E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66D48-7491-4F90-9E27-F15A194AF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365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745992-6F6E-C5AA-0E68-891C64527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B282C8-47A5-B924-A5DB-8438AD8FF9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410B20-D2A7-1B0D-2F21-06C0E308D0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C51C10-4602-4B8D-B771-3DD795EBD83E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D60FF-FCBB-694A-04B7-2F6A72AF63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1D856-E7A6-F831-DCAC-839DE318E5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566D48-7491-4F90-9E27-F15A194AF13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442C79-D87E-789F-C58A-EF2263976522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395087" y="6642100"/>
            <a:ext cx="14271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C0 - Personal Information</a:t>
            </a:r>
          </a:p>
        </p:txBody>
      </p:sp>
    </p:spTree>
    <p:extLst>
      <p:ext uri="{BB962C8B-B14F-4D97-AF65-F5344CB8AC3E}">
        <p14:creationId xmlns:p14="http://schemas.microsoft.com/office/powerpoint/2010/main" val="3144630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58272-6B3F-C5EF-E2C4-C0C32A0A0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2103437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dirty="0">
                <a:solidFill>
                  <a:srgbClr val="FF0000"/>
                </a:solidFill>
              </a:rPr>
              <a:t>Unified Product as </a:t>
            </a:r>
            <a:br>
              <a:rPr lang="en-US" sz="6000" dirty="0">
                <a:solidFill>
                  <a:srgbClr val="FF0000"/>
                </a:solidFill>
              </a:rPr>
            </a:br>
            <a:r>
              <a:rPr lang="en-US" sz="6000" dirty="0">
                <a:solidFill>
                  <a:srgbClr val="FF0000"/>
                </a:solidFill>
              </a:rPr>
              <a:t>Primary Operator and Finance Operator</a:t>
            </a:r>
          </a:p>
        </p:txBody>
      </p:sp>
    </p:spTree>
    <p:extLst>
      <p:ext uri="{BB962C8B-B14F-4D97-AF65-F5344CB8AC3E}">
        <p14:creationId xmlns:p14="http://schemas.microsoft.com/office/powerpoint/2010/main" val="1260995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>
            <a:extLst>
              <a:ext uri="{FF2B5EF4-FFF2-40B4-BE49-F238E27FC236}">
                <a16:creationId xmlns:a16="http://schemas.microsoft.com/office/drawing/2014/main" id="{AEE9A037-7651-9CF2-4860-AA974EE8730E}"/>
              </a:ext>
            </a:extLst>
          </p:cNvPr>
          <p:cNvSpPr txBox="1"/>
          <p:nvPr/>
        </p:nvSpPr>
        <p:spPr>
          <a:xfrm>
            <a:off x="1717658" y="274726"/>
            <a:ext cx="7025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Unified  HO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B11DF79-3A1B-18FC-5447-7CF18C6E2D78}"/>
              </a:ext>
            </a:extLst>
          </p:cNvPr>
          <p:cNvSpPr/>
          <p:nvPr/>
        </p:nvSpPr>
        <p:spPr>
          <a:xfrm flipH="1" flipV="1">
            <a:off x="1389453" y="765676"/>
            <a:ext cx="4268550" cy="55589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3FE6F1-72A0-512C-3126-455F6BA09AC8}"/>
              </a:ext>
            </a:extLst>
          </p:cNvPr>
          <p:cNvSpPr txBox="1"/>
          <p:nvPr/>
        </p:nvSpPr>
        <p:spPr>
          <a:xfrm>
            <a:off x="1552741" y="1404259"/>
            <a:ext cx="903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Request Payment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CB7650-443D-E52D-E4C9-A9580ED18AC1}"/>
              </a:ext>
            </a:extLst>
          </p:cNvPr>
          <p:cNvSpPr txBox="1"/>
          <p:nvPr/>
        </p:nvSpPr>
        <p:spPr>
          <a:xfrm>
            <a:off x="2954950" y="1407238"/>
            <a:ext cx="11021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Self Service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1A597D-CCD1-B0C7-CA8C-4BF0C5280C8D}"/>
              </a:ext>
            </a:extLst>
          </p:cNvPr>
          <p:cNvSpPr txBox="1"/>
          <p:nvPr/>
        </p:nvSpPr>
        <p:spPr>
          <a:xfrm>
            <a:off x="5998759" y="3355824"/>
            <a:ext cx="193275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dirty="0">
              <a:solidFill>
                <a:schemeClr val="tx2"/>
              </a:solidFill>
            </a:endParaRPr>
          </a:p>
          <a:p>
            <a:endParaRPr lang="en-US" sz="1400" dirty="0">
              <a:solidFill>
                <a:srgbClr val="FF0000"/>
              </a:solidFill>
            </a:endParaRPr>
          </a:p>
          <a:p>
            <a:endParaRPr lang="en-US" sz="1400" dirty="0">
              <a:solidFill>
                <a:srgbClr val="FF0000"/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Generate QR</a:t>
            </a: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Request to pay</a:t>
            </a: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From MPESA wallet via link</a:t>
            </a: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From international card via link</a:t>
            </a: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</a:endParaRPr>
          </a:p>
          <a:p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023F26-D2BC-66FB-C7B2-F45F12B59143}"/>
              </a:ext>
            </a:extLst>
          </p:cNvPr>
          <p:cNvSpPr txBox="1"/>
          <p:nvPr/>
        </p:nvSpPr>
        <p:spPr>
          <a:xfrm>
            <a:off x="5985219" y="3449598"/>
            <a:ext cx="15259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Request Payment          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002709-B3CA-54C4-DD89-9AF41EF08E0B}"/>
              </a:ext>
            </a:extLst>
          </p:cNvPr>
          <p:cNvSpPr txBox="1"/>
          <p:nvPr/>
        </p:nvSpPr>
        <p:spPr>
          <a:xfrm>
            <a:off x="5985219" y="824520"/>
            <a:ext cx="12333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Self Service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349739-98B0-9125-B7AC-C9D446DBB933}"/>
              </a:ext>
            </a:extLst>
          </p:cNvPr>
          <p:cNvSpPr txBox="1"/>
          <p:nvPr/>
        </p:nvSpPr>
        <p:spPr>
          <a:xfrm>
            <a:off x="5998759" y="1298368"/>
            <a:ext cx="184105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Withdraw to bank</a:t>
            </a:r>
          </a:p>
          <a:p>
            <a:endParaRPr lang="en-US" sz="1400" dirty="0">
              <a:solidFill>
                <a:srgbClr val="FF0000"/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Add Money</a:t>
            </a: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Distribute Float</a:t>
            </a: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Collect balance</a:t>
            </a: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</a:endParaRPr>
          </a:p>
          <a:p>
            <a:endParaRPr lang="en-US" sz="1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456052-BB62-C8A7-F832-040CC935B91C}"/>
              </a:ext>
            </a:extLst>
          </p:cNvPr>
          <p:cNvSpPr txBox="1"/>
          <p:nvPr/>
        </p:nvSpPr>
        <p:spPr>
          <a:xfrm>
            <a:off x="8743018" y="1298368"/>
            <a:ext cx="184105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Withdraw to my bank</a:t>
            </a:r>
            <a:endParaRPr lang="en-US" sz="1400" dirty="0">
              <a:solidFill>
                <a:srgbClr val="FF0000"/>
              </a:solidFill>
            </a:endParaRP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Withdraw to Other bank</a:t>
            </a: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</a:endParaRP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/>
              <a:t> 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5C80B3F-FDC4-5500-E141-ADB88B4AD16A}"/>
              </a:ext>
            </a:extLst>
          </p:cNvPr>
          <p:cNvCxnSpPr>
            <a:cxnSpLocks/>
          </p:cNvCxnSpPr>
          <p:nvPr/>
        </p:nvCxnSpPr>
        <p:spPr>
          <a:xfrm>
            <a:off x="7743803" y="1438842"/>
            <a:ext cx="74475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9828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C194F-05DD-E417-FCA2-BB3D7F7E3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>
            <a:extLst>
              <a:ext uri="{FF2B5EF4-FFF2-40B4-BE49-F238E27FC236}">
                <a16:creationId xmlns:a16="http://schemas.microsoft.com/office/drawing/2014/main" id="{1257DDE0-CDA0-45F4-CB5B-F1F4A8C194BD}"/>
              </a:ext>
            </a:extLst>
          </p:cNvPr>
          <p:cNvSpPr txBox="1"/>
          <p:nvPr/>
        </p:nvSpPr>
        <p:spPr>
          <a:xfrm>
            <a:off x="1717657" y="274726"/>
            <a:ext cx="9553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Unified  own Store / If it’s not agency banking - Payment merchant  type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548B9DB-DAFF-381E-E925-D1CEFB0E9496}"/>
              </a:ext>
            </a:extLst>
          </p:cNvPr>
          <p:cNvSpPr/>
          <p:nvPr/>
        </p:nvSpPr>
        <p:spPr>
          <a:xfrm flipH="1" flipV="1">
            <a:off x="1389453" y="765676"/>
            <a:ext cx="4268550" cy="55589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07E698-E3E2-C262-CC29-9E1D2241F31C}"/>
              </a:ext>
            </a:extLst>
          </p:cNvPr>
          <p:cNvSpPr txBox="1"/>
          <p:nvPr/>
        </p:nvSpPr>
        <p:spPr>
          <a:xfrm>
            <a:off x="1552741" y="1404259"/>
            <a:ext cx="903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Request Payment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F5280B-3093-2E9D-04FA-D702B044163C}"/>
              </a:ext>
            </a:extLst>
          </p:cNvPr>
          <p:cNvSpPr txBox="1"/>
          <p:nvPr/>
        </p:nvSpPr>
        <p:spPr>
          <a:xfrm>
            <a:off x="2853583" y="1404259"/>
            <a:ext cx="903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Sell airtime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A45D9A-9EFF-034E-8BE2-343ABB5F7CFB}"/>
              </a:ext>
            </a:extLst>
          </p:cNvPr>
          <p:cNvSpPr txBox="1"/>
          <p:nvPr/>
        </p:nvSpPr>
        <p:spPr>
          <a:xfrm>
            <a:off x="4139982" y="1283204"/>
            <a:ext cx="11021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Sell  Package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9FA4AC-83B0-1400-7DBC-D2F88A2E48BF}"/>
              </a:ext>
            </a:extLst>
          </p:cNvPr>
          <p:cNvSpPr txBox="1"/>
          <p:nvPr/>
        </p:nvSpPr>
        <p:spPr>
          <a:xfrm>
            <a:off x="1612896" y="2542481"/>
            <a:ext cx="11021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Assisted Payment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948B6A-B343-6117-653A-C8CB0972E1D3}"/>
              </a:ext>
            </a:extLst>
          </p:cNvPr>
          <p:cNvSpPr txBox="1"/>
          <p:nvPr/>
        </p:nvSpPr>
        <p:spPr>
          <a:xfrm>
            <a:off x="2754250" y="2524080"/>
            <a:ext cx="11021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Deposit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A8C3C0-B006-3DC5-2CDE-1D7EC0A83473}"/>
              </a:ext>
            </a:extLst>
          </p:cNvPr>
          <p:cNvSpPr txBox="1"/>
          <p:nvPr/>
        </p:nvSpPr>
        <p:spPr>
          <a:xfrm>
            <a:off x="4032390" y="2444947"/>
            <a:ext cx="11021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Self Service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580A6F-8F1B-FC68-3331-C293D5D9DD72}"/>
              </a:ext>
            </a:extLst>
          </p:cNvPr>
          <p:cNvSpPr txBox="1"/>
          <p:nvPr/>
        </p:nvSpPr>
        <p:spPr>
          <a:xfrm>
            <a:off x="5884739" y="776562"/>
            <a:ext cx="23766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Assisted Payment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E72380-DC8C-960F-EEC1-6022C5BFA66D}"/>
              </a:ext>
            </a:extLst>
          </p:cNvPr>
          <p:cNvSpPr txBox="1"/>
          <p:nvPr/>
        </p:nvSpPr>
        <p:spPr>
          <a:xfrm>
            <a:off x="5884739" y="1178949"/>
            <a:ext cx="184105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EEU</a:t>
            </a: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Water </a:t>
            </a: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School</a:t>
            </a: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/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EF809E-3DDE-0D14-A56D-34A68E449961}"/>
              </a:ext>
            </a:extLst>
          </p:cNvPr>
          <p:cNvSpPr txBox="1"/>
          <p:nvPr/>
        </p:nvSpPr>
        <p:spPr>
          <a:xfrm>
            <a:off x="5917334" y="2323914"/>
            <a:ext cx="12333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Self Service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1526F9-DCA9-DCBA-1805-0E2FBEC3E687}"/>
              </a:ext>
            </a:extLst>
          </p:cNvPr>
          <p:cNvSpPr txBox="1"/>
          <p:nvPr/>
        </p:nvSpPr>
        <p:spPr>
          <a:xfrm>
            <a:off x="5917334" y="2677968"/>
            <a:ext cx="184105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Withdraw to my bank</a:t>
            </a:r>
          </a:p>
          <a:p>
            <a:endParaRPr lang="en-US" sz="1400" dirty="0">
              <a:solidFill>
                <a:srgbClr val="FF0000"/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Add Money</a:t>
            </a: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EVD</a:t>
            </a: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Sell Float</a:t>
            </a: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</a:endParaRPr>
          </a:p>
          <a:p>
            <a:r>
              <a:rPr lang="en-US" sz="1400" dirty="0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B61CA3-17C9-F1F7-24E7-AAAD880305F9}"/>
              </a:ext>
            </a:extLst>
          </p:cNvPr>
          <p:cNvSpPr txBox="1"/>
          <p:nvPr/>
        </p:nvSpPr>
        <p:spPr>
          <a:xfrm>
            <a:off x="9338417" y="644058"/>
            <a:ext cx="1932756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dirty="0">
              <a:solidFill>
                <a:schemeClr val="tx2"/>
              </a:solidFill>
            </a:endParaRPr>
          </a:p>
          <a:p>
            <a:endParaRPr lang="en-US" sz="1400" dirty="0">
              <a:solidFill>
                <a:srgbClr val="FF0000"/>
              </a:solidFill>
            </a:endParaRPr>
          </a:p>
          <a:p>
            <a:r>
              <a:rPr lang="en-US" sz="1400" b="1" dirty="0">
                <a:solidFill>
                  <a:srgbClr val="FF0000"/>
                </a:solidFill>
              </a:rPr>
              <a:t>Request Payment</a:t>
            </a:r>
          </a:p>
          <a:p>
            <a:endParaRPr lang="en-US" sz="1400" dirty="0">
              <a:solidFill>
                <a:srgbClr val="FF0000"/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Generate QR</a:t>
            </a: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Request to pay</a:t>
            </a: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From MPESA wallet via link</a:t>
            </a: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From international card via link</a:t>
            </a: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</a:endParaRPr>
          </a:p>
          <a:p>
            <a:endParaRPr lang="en-US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6509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FD4C1-9148-433B-FB1B-0F93307E1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>
            <a:extLst>
              <a:ext uri="{FF2B5EF4-FFF2-40B4-BE49-F238E27FC236}">
                <a16:creationId xmlns:a16="http://schemas.microsoft.com/office/drawing/2014/main" id="{7400C79A-AAF3-68C5-EE79-7247AEA16168}"/>
              </a:ext>
            </a:extLst>
          </p:cNvPr>
          <p:cNvSpPr txBox="1"/>
          <p:nvPr/>
        </p:nvSpPr>
        <p:spPr>
          <a:xfrm>
            <a:off x="1717658" y="274726"/>
            <a:ext cx="9951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Unified  Independent Store/ If it is not agency banking category….Or payment merchant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F84B158-4178-FF23-F09F-32F732467D99}"/>
              </a:ext>
            </a:extLst>
          </p:cNvPr>
          <p:cNvSpPr/>
          <p:nvPr/>
        </p:nvSpPr>
        <p:spPr>
          <a:xfrm flipH="1" flipV="1">
            <a:off x="1389453" y="765676"/>
            <a:ext cx="4268550" cy="55589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086514-E0C6-52FE-825E-249165A9D76A}"/>
              </a:ext>
            </a:extLst>
          </p:cNvPr>
          <p:cNvSpPr txBox="1"/>
          <p:nvPr/>
        </p:nvSpPr>
        <p:spPr>
          <a:xfrm>
            <a:off x="1653260" y="2308637"/>
            <a:ext cx="903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Request Payment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B46875-BBE5-7F3B-3FF3-2F517E5311EC}"/>
              </a:ext>
            </a:extLst>
          </p:cNvPr>
          <p:cNvSpPr txBox="1"/>
          <p:nvPr/>
        </p:nvSpPr>
        <p:spPr>
          <a:xfrm>
            <a:off x="3087055" y="2278662"/>
            <a:ext cx="903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Sell airtime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92D3DB-4F5D-9764-75D3-E87DB7BF5061}"/>
              </a:ext>
            </a:extLst>
          </p:cNvPr>
          <p:cNvSpPr txBox="1"/>
          <p:nvPr/>
        </p:nvSpPr>
        <p:spPr>
          <a:xfrm>
            <a:off x="4292299" y="2245366"/>
            <a:ext cx="11021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Sell  Package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4873EB-ECC1-2AC6-4618-00AB0A73E6FD}"/>
              </a:ext>
            </a:extLst>
          </p:cNvPr>
          <p:cNvSpPr txBox="1"/>
          <p:nvPr/>
        </p:nvSpPr>
        <p:spPr>
          <a:xfrm>
            <a:off x="1652071" y="3282653"/>
            <a:ext cx="11021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Assisted Payment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1FD3AA-AADC-41FB-520D-C5929B6A383F}"/>
              </a:ext>
            </a:extLst>
          </p:cNvPr>
          <p:cNvSpPr txBox="1"/>
          <p:nvPr/>
        </p:nvSpPr>
        <p:spPr>
          <a:xfrm>
            <a:off x="2930211" y="3326394"/>
            <a:ext cx="11021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Deposit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B5B716-EE26-F0B2-270C-99E75BF28B7A}"/>
              </a:ext>
            </a:extLst>
          </p:cNvPr>
          <p:cNvSpPr txBox="1"/>
          <p:nvPr/>
        </p:nvSpPr>
        <p:spPr>
          <a:xfrm>
            <a:off x="4128159" y="3319432"/>
            <a:ext cx="11021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Self Service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366FE3-EBAF-71AB-403D-70FB13C6A3D3}"/>
              </a:ext>
            </a:extLst>
          </p:cNvPr>
          <p:cNvSpPr txBox="1"/>
          <p:nvPr/>
        </p:nvSpPr>
        <p:spPr>
          <a:xfrm>
            <a:off x="5917333" y="2647993"/>
            <a:ext cx="23766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Assisted Payment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BB80AB-C1DC-E9AC-3B53-276FDAB0F13E}"/>
              </a:ext>
            </a:extLst>
          </p:cNvPr>
          <p:cNvSpPr txBox="1"/>
          <p:nvPr/>
        </p:nvSpPr>
        <p:spPr>
          <a:xfrm>
            <a:off x="5917333" y="3204943"/>
            <a:ext cx="184105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EEU</a:t>
            </a: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Water </a:t>
            </a: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School Payment</a:t>
            </a: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/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A8293E-F99B-2ADF-9B4E-E783EEAA67E6}"/>
              </a:ext>
            </a:extLst>
          </p:cNvPr>
          <p:cNvSpPr txBox="1"/>
          <p:nvPr/>
        </p:nvSpPr>
        <p:spPr>
          <a:xfrm>
            <a:off x="8743018" y="3421636"/>
            <a:ext cx="12333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Self Service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3386E8-6840-7B5B-3E5D-36E3846F7E5F}"/>
              </a:ext>
            </a:extLst>
          </p:cNvPr>
          <p:cNvSpPr txBox="1"/>
          <p:nvPr/>
        </p:nvSpPr>
        <p:spPr>
          <a:xfrm>
            <a:off x="8768485" y="3803221"/>
            <a:ext cx="1841053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B0F0"/>
                </a:solidFill>
              </a:rPr>
              <a:t>Withdraw to Bank</a:t>
            </a:r>
          </a:p>
          <a:p>
            <a:endParaRPr lang="en-US" sz="1400" dirty="0">
              <a:solidFill>
                <a:srgbClr val="FF0000"/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Add Money</a:t>
            </a: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Transfer Float to Print A/C</a:t>
            </a: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EVD</a:t>
            </a: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</a:endParaRPr>
          </a:p>
          <a:p>
            <a:r>
              <a:rPr lang="en-US" sz="1400" dirty="0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22910E-E71C-6C9F-9726-B211584D5749}"/>
              </a:ext>
            </a:extLst>
          </p:cNvPr>
          <p:cNvSpPr txBox="1"/>
          <p:nvPr/>
        </p:nvSpPr>
        <p:spPr>
          <a:xfrm>
            <a:off x="9024258" y="776644"/>
            <a:ext cx="60960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Request Payment</a:t>
            </a:r>
          </a:p>
          <a:p>
            <a:endParaRPr lang="en-US" sz="1400" dirty="0">
              <a:solidFill>
                <a:srgbClr val="FF0000"/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Generate QR</a:t>
            </a: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Request to pay</a:t>
            </a: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Local payment via link</a:t>
            </a: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International card via link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C1A7A2-0D02-7FF8-93A7-2B9277B14CAC}"/>
              </a:ext>
            </a:extLst>
          </p:cNvPr>
          <p:cNvSpPr txBox="1"/>
          <p:nvPr/>
        </p:nvSpPr>
        <p:spPr>
          <a:xfrm>
            <a:off x="4286953" y="751451"/>
            <a:ext cx="7421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QR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EB0B7D-F794-267C-C130-4D23492F6262}"/>
              </a:ext>
            </a:extLst>
          </p:cNvPr>
          <p:cNvSpPr txBox="1"/>
          <p:nvPr/>
        </p:nvSpPr>
        <p:spPr>
          <a:xfrm>
            <a:off x="1669838" y="1059228"/>
            <a:ext cx="34573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Working                                         Reward</a:t>
            </a:r>
          </a:p>
          <a:p>
            <a:r>
              <a:rPr lang="en-US" sz="1400" dirty="0"/>
              <a:t> </a:t>
            </a:r>
          </a:p>
          <a:p>
            <a:r>
              <a:rPr lang="en-US" sz="1400" dirty="0"/>
              <a:t>                                                         Commission 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874A12F-D86D-3C81-2502-7E509C60A1AB}"/>
              </a:ext>
            </a:extLst>
          </p:cNvPr>
          <p:cNvSpPr/>
          <p:nvPr/>
        </p:nvSpPr>
        <p:spPr>
          <a:xfrm>
            <a:off x="1669838" y="1059228"/>
            <a:ext cx="3457333" cy="73866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315DAC4-9B24-3D2A-3AFA-26B28F6F56AB}"/>
              </a:ext>
            </a:extLst>
          </p:cNvPr>
          <p:cNvSpPr/>
          <p:nvPr/>
        </p:nvSpPr>
        <p:spPr>
          <a:xfrm>
            <a:off x="5311152" y="1075380"/>
            <a:ext cx="3457333" cy="73866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0D65BE4-E60E-CF47-D2F0-82A972A18541}"/>
              </a:ext>
            </a:extLst>
          </p:cNvPr>
          <p:cNvSpPr txBox="1"/>
          <p:nvPr/>
        </p:nvSpPr>
        <p:spPr>
          <a:xfrm>
            <a:off x="6061518" y="1311383"/>
            <a:ext cx="22442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Print Account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1CFFAD-40F7-62C6-21A6-2DBA3D44E1B5}"/>
              </a:ext>
            </a:extLst>
          </p:cNvPr>
          <p:cNvSpPr txBox="1"/>
          <p:nvPr/>
        </p:nvSpPr>
        <p:spPr>
          <a:xfrm>
            <a:off x="5917333" y="4707630"/>
            <a:ext cx="12333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Withdraw to Bank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5D9865-CF53-BA03-0803-9FDAF7BBBF55}"/>
              </a:ext>
            </a:extLst>
          </p:cNvPr>
          <p:cNvSpPr txBox="1"/>
          <p:nvPr/>
        </p:nvSpPr>
        <p:spPr>
          <a:xfrm>
            <a:off x="5840228" y="5411450"/>
            <a:ext cx="184105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Withdraw to my bank</a:t>
            </a:r>
          </a:p>
          <a:p>
            <a:endParaRPr lang="en-US" sz="1400" dirty="0">
              <a:solidFill>
                <a:srgbClr val="FF0000"/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Withdraw to other bank</a:t>
            </a: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EVD</a:t>
            </a: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</a:endParaRPr>
          </a:p>
          <a:p>
            <a:r>
              <a:rPr 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24718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67976-FFCA-760F-ED60-DEE9970F3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CA390-FC4E-F88E-1777-8B468E98A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2103437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dirty="0">
                <a:solidFill>
                  <a:srgbClr val="FF0000"/>
                </a:solidFill>
              </a:rPr>
              <a:t>Unified Product as an Assistant Operator</a:t>
            </a:r>
          </a:p>
        </p:txBody>
      </p:sp>
    </p:spTree>
    <p:extLst>
      <p:ext uri="{BB962C8B-B14F-4D97-AF65-F5344CB8AC3E}">
        <p14:creationId xmlns:p14="http://schemas.microsoft.com/office/powerpoint/2010/main" val="3804533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7FCDF-0862-0CD2-E619-F3F071BD9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>
            <a:extLst>
              <a:ext uri="{FF2B5EF4-FFF2-40B4-BE49-F238E27FC236}">
                <a16:creationId xmlns:a16="http://schemas.microsoft.com/office/drawing/2014/main" id="{D9E06C1F-175C-0823-4266-E232DAA5F584}"/>
              </a:ext>
            </a:extLst>
          </p:cNvPr>
          <p:cNvSpPr txBox="1"/>
          <p:nvPr/>
        </p:nvSpPr>
        <p:spPr>
          <a:xfrm>
            <a:off x="1717658" y="274726"/>
            <a:ext cx="7025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Unified  HO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1DEB17-BE75-F147-4023-D4EC983B679D}"/>
              </a:ext>
            </a:extLst>
          </p:cNvPr>
          <p:cNvSpPr/>
          <p:nvPr/>
        </p:nvSpPr>
        <p:spPr>
          <a:xfrm flipH="1" flipV="1">
            <a:off x="1389453" y="765676"/>
            <a:ext cx="4268550" cy="55589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F728E9-C122-D67C-DC65-D69EAA374F59}"/>
              </a:ext>
            </a:extLst>
          </p:cNvPr>
          <p:cNvSpPr txBox="1"/>
          <p:nvPr/>
        </p:nvSpPr>
        <p:spPr>
          <a:xfrm>
            <a:off x="1552741" y="1404259"/>
            <a:ext cx="903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Request Payment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7505DF-7203-AA81-3E1C-0FA3136C7721}"/>
              </a:ext>
            </a:extLst>
          </p:cNvPr>
          <p:cNvSpPr txBox="1"/>
          <p:nvPr/>
        </p:nvSpPr>
        <p:spPr>
          <a:xfrm>
            <a:off x="3257926" y="1404259"/>
            <a:ext cx="11021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Self Service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D12683-460C-7BDF-582C-F5709967EB7B}"/>
              </a:ext>
            </a:extLst>
          </p:cNvPr>
          <p:cNvSpPr txBox="1"/>
          <p:nvPr/>
        </p:nvSpPr>
        <p:spPr>
          <a:xfrm>
            <a:off x="5917334" y="901949"/>
            <a:ext cx="12333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Self Service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06EF644-7AEA-2D9A-921E-B777EE9D1C53}"/>
              </a:ext>
            </a:extLst>
          </p:cNvPr>
          <p:cNvSpPr txBox="1"/>
          <p:nvPr/>
        </p:nvSpPr>
        <p:spPr>
          <a:xfrm>
            <a:off x="5824388" y="1295482"/>
            <a:ext cx="184105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Withdraw to my bank</a:t>
            </a:r>
          </a:p>
          <a:p>
            <a:endParaRPr lang="en-US" sz="1400" dirty="0">
              <a:solidFill>
                <a:srgbClr val="FF0000"/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Add Money</a:t>
            </a: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Distribute Float</a:t>
            </a: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Roll up/ Collect balance</a:t>
            </a: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</a:endParaRPr>
          </a:p>
          <a:p>
            <a:r>
              <a:rPr lang="en-US" sz="1400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301BCD-8654-751A-FF02-E41F319BD35A}"/>
              </a:ext>
            </a:extLst>
          </p:cNvPr>
          <p:cNvSpPr txBox="1"/>
          <p:nvPr/>
        </p:nvSpPr>
        <p:spPr>
          <a:xfrm>
            <a:off x="9672881" y="901949"/>
            <a:ext cx="1932756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Request Payment</a:t>
            </a:r>
          </a:p>
          <a:p>
            <a:endParaRPr lang="en-US" sz="1400" dirty="0">
              <a:solidFill>
                <a:srgbClr val="FF0000"/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Generate QR</a:t>
            </a: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Request to pay</a:t>
            </a: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From MPESA wallet via link</a:t>
            </a: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From international card via link</a:t>
            </a: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</a:endParaRPr>
          </a:p>
          <a:p>
            <a:endParaRPr lang="en-US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516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F6DCA-4273-DC1B-4285-D7C925ABE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>
            <a:extLst>
              <a:ext uri="{FF2B5EF4-FFF2-40B4-BE49-F238E27FC236}">
                <a16:creationId xmlns:a16="http://schemas.microsoft.com/office/drawing/2014/main" id="{1D25D083-68AC-67FA-DE84-73F77774A057}"/>
              </a:ext>
            </a:extLst>
          </p:cNvPr>
          <p:cNvSpPr txBox="1"/>
          <p:nvPr/>
        </p:nvSpPr>
        <p:spPr>
          <a:xfrm>
            <a:off x="1717658" y="274726"/>
            <a:ext cx="7025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Unified  Independent Store/ If it is not agency banking category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388EC1-AB1E-D6D1-2497-48F8FFC2A062}"/>
              </a:ext>
            </a:extLst>
          </p:cNvPr>
          <p:cNvSpPr/>
          <p:nvPr/>
        </p:nvSpPr>
        <p:spPr>
          <a:xfrm flipH="1" flipV="1">
            <a:off x="1389453" y="765676"/>
            <a:ext cx="4268550" cy="55589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A6A386-6DFA-60FC-C508-D563C2FA3991}"/>
              </a:ext>
            </a:extLst>
          </p:cNvPr>
          <p:cNvSpPr txBox="1"/>
          <p:nvPr/>
        </p:nvSpPr>
        <p:spPr>
          <a:xfrm>
            <a:off x="1653260" y="2308637"/>
            <a:ext cx="903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Request Payment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2001B0-90E1-CBB8-EBC0-EED27F59568B}"/>
              </a:ext>
            </a:extLst>
          </p:cNvPr>
          <p:cNvSpPr txBox="1"/>
          <p:nvPr/>
        </p:nvSpPr>
        <p:spPr>
          <a:xfrm>
            <a:off x="3087055" y="2278662"/>
            <a:ext cx="903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Sell airtime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98F1EE-347F-95A3-56F2-D7E8C9C4D3E5}"/>
              </a:ext>
            </a:extLst>
          </p:cNvPr>
          <p:cNvSpPr txBox="1"/>
          <p:nvPr/>
        </p:nvSpPr>
        <p:spPr>
          <a:xfrm>
            <a:off x="4292299" y="2245366"/>
            <a:ext cx="11021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Sell  Package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285521-CBE3-3C89-4C8A-36359B305C71}"/>
              </a:ext>
            </a:extLst>
          </p:cNvPr>
          <p:cNvSpPr txBox="1"/>
          <p:nvPr/>
        </p:nvSpPr>
        <p:spPr>
          <a:xfrm>
            <a:off x="1652071" y="3282653"/>
            <a:ext cx="11021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Assisted Payment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AA4E4C-62F4-BEC6-4206-156A5F91E0D1}"/>
              </a:ext>
            </a:extLst>
          </p:cNvPr>
          <p:cNvSpPr txBox="1"/>
          <p:nvPr/>
        </p:nvSpPr>
        <p:spPr>
          <a:xfrm>
            <a:off x="2930211" y="3326394"/>
            <a:ext cx="11021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Deposit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78BD0F-3342-0D93-A369-12747A45E0FC}"/>
              </a:ext>
            </a:extLst>
          </p:cNvPr>
          <p:cNvSpPr txBox="1"/>
          <p:nvPr/>
        </p:nvSpPr>
        <p:spPr>
          <a:xfrm>
            <a:off x="4128159" y="3319432"/>
            <a:ext cx="11021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Self Service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783E5C-6B9B-025D-4A3A-9B3E4B507B8A}"/>
              </a:ext>
            </a:extLst>
          </p:cNvPr>
          <p:cNvSpPr txBox="1"/>
          <p:nvPr/>
        </p:nvSpPr>
        <p:spPr>
          <a:xfrm>
            <a:off x="5917333" y="2647993"/>
            <a:ext cx="23766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Assisted Payment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D07C72-9E94-ED5F-C3E4-BA98888C84AC}"/>
              </a:ext>
            </a:extLst>
          </p:cNvPr>
          <p:cNvSpPr txBox="1"/>
          <p:nvPr/>
        </p:nvSpPr>
        <p:spPr>
          <a:xfrm>
            <a:off x="5917333" y="3204943"/>
            <a:ext cx="184105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EEU</a:t>
            </a: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Water </a:t>
            </a: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School Payment</a:t>
            </a: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/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5C964-6C71-4FE0-5FBF-78BAA615297E}"/>
              </a:ext>
            </a:extLst>
          </p:cNvPr>
          <p:cNvSpPr txBox="1"/>
          <p:nvPr/>
        </p:nvSpPr>
        <p:spPr>
          <a:xfrm>
            <a:off x="8743018" y="3421636"/>
            <a:ext cx="12333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Self Service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E59531-7E62-EA08-55C8-939311525ABD}"/>
              </a:ext>
            </a:extLst>
          </p:cNvPr>
          <p:cNvSpPr txBox="1"/>
          <p:nvPr/>
        </p:nvSpPr>
        <p:spPr>
          <a:xfrm>
            <a:off x="8768485" y="3803221"/>
            <a:ext cx="252000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</a:rPr>
              <a:t>Withdraw to my bank</a:t>
            </a:r>
          </a:p>
          <a:p>
            <a:endParaRPr lang="en-US" sz="1400" dirty="0">
              <a:solidFill>
                <a:srgbClr val="FF0000"/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Add Money</a:t>
            </a: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Transfer Float to Print A/C</a:t>
            </a: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EVD</a:t>
            </a: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</a:endParaRPr>
          </a:p>
          <a:p>
            <a:r>
              <a:rPr lang="en-US" sz="1400" dirty="0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2B1644-2EE8-E90B-8F6A-76D1E3F6BC9D}"/>
              </a:ext>
            </a:extLst>
          </p:cNvPr>
          <p:cNvSpPr txBox="1"/>
          <p:nvPr/>
        </p:nvSpPr>
        <p:spPr>
          <a:xfrm>
            <a:off x="9024258" y="776644"/>
            <a:ext cx="60960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Request Payment</a:t>
            </a:r>
          </a:p>
          <a:p>
            <a:endParaRPr lang="en-US" sz="1400" dirty="0">
              <a:solidFill>
                <a:srgbClr val="FF0000"/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Generate QR</a:t>
            </a: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Request to pay</a:t>
            </a: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Local payment via link</a:t>
            </a: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International card via link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22B49A-7234-5896-6054-ACC3F836346E}"/>
              </a:ext>
            </a:extLst>
          </p:cNvPr>
          <p:cNvSpPr txBox="1"/>
          <p:nvPr/>
        </p:nvSpPr>
        <p:spPr>
          <a:xfrm>
            <a:off x="4286953" y="751451"/>
            <a:ext cx="7421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QR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5AA7196-3691-81F5-E3B1-7EC0BB0DAE06}"/>
              </a:ext>
            </a:extLst>
          </p:cNvPr>
          <p:cNvSpPr txBox="1"/>
          <p:nvPr/>
        </p:nvSpPr>
        <p:spPr>
          <a:xfrm>
            <a:off x="1669838" y="1059228"/>
            <a:ext cx="34573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Working                                         Reward</a:t>
            </a:r>
          </a:p>
          <a:p>
            <a:r>
              <a:rPr lang="en-US" sz="1400" dirty="0"/>
              <a:t> </a:t>
            </a:r>
          </a:p>
          <a:p>
            <a:r>
              <a:rPr lang="en-US" sz="1400" dirty="0"/>
              <a:t>                                                         Commission 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4965C23-144F-7116-2751-00BE61F648F2}"/>
              </a:ext>
            </a:extLst>
          </p:cNvPr>
          <p:cNvSpPr/>
          <p:nvPr/>
        </p:nvSpPr>
        <p:spPr>
          <a:xfrm>
            <a:off x="1669838" y="1059228"/>
            <a:ext cx="3457333" cy="73866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072C277-3591-9EF8-8C87-4359E2F56F5B}"/>
              </a:ext>
            </a:extLst>
          </p:cNvPr>
          <p:cNvSpPr/>
          <p:nvPr/>
        </p:nvSpPr>
        <p:spPr>
          <a:xfrm>
            <a:off x="5311152" y="1075380"/>
            <a:ext cx="3457333" cy="73866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AC31BC9-2BAF-6752-D722-911AE1EB1A1D}"/>
              </a:ext>
            </a:extLst>
          </p:cNvPr>
          <p:cNvSpPr txBox="1"/>
          <p:nvPr/>
        </p:nvSpPr>
        <p:spPr>
          <a:xfrm>
            <a:off x="6061518" y="1311383"/>
            <a:ext cx="22442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Print Account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FBFBEB-0951-99E2-110D-D69B6536DEC4}"/>
              </a:ext>
            </a:extLst>
          </p:cNvPr>
          <p:cNvSpPr txBox="1"/>
          <p:nvPr/>
        </p:nvSpPr>
        <p:spPr>
          <a:xfrm>
            <a:off x="5917332" y="4707630"/>
            <a:ext cx="2083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Withdraw to Bank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AE07C5-698A-4D6F-F2D9-E7A46DC15CD5}"/>
              </a:ext>
            </a:extLst>
          </p:cNvPr>
          <p:cNvSpPr txBox="1"/>
          <p:nvPr/>
        </p:nvSpPr>
        <p:spPr>
          <a:xfrm>
            <a:off x="5917332" y="5043956"/>
            <a:ext cx="270415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Withdraw to my bank</a:t>
            </a: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Withdraw to Other bank</a:t>
            </a:r>
          </a:p>
          <a:p>
            <a:r>
              <a:rPr 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6666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EAA2-0728-2FA6-7113-1C5D3400A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>
            <a:extLst>
              <a:ext uri="{FF2B5EF4-FFF2-40B4-BE49-F238E27FC236}">
                <a16:creationId xmlns:a16="http://schemas.microsoft.com/office/drawing/2014/main" id="{B6BA72B9-0570-0596-8507-309995988736}"/>
              </a:ext>
            </a:extLst>
          </p:cNvPr>
          <p:cNvSpPr txBox="1"/>
          <p:nvPr/>
        </p:nvSpPr>
        <p:spPr>
          <a:xfrm>
            <a:off x="1717658" y="274726"/>
            <a:ext cx="7025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Unified  own Store / If it’s not agency banking category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E37E4D-76E6-50CC-0D17-0A3126621887}"/>
              </a:ext>
            </a:extLst>
          </p:cNvPr>
          <p:cNvSpPr/>
          <p:nvPr/>
        </p:nvSpPr>
        <p:spPr>
          <a:xfrm flipH="1" flipV="1">
            <a:off x="1389453" y="765676"/>
            <a:ext cx="4268550" cy="55589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BD7394-3A0F-C160-7826-E46F171AB783}"/>
              </a:ext>
            </a:extLst>
          </p:cNvPr>
          <p:cNvSpPr txBox="1"/>
          <p:nvPr/>
        </p:nvSpPr>
        <p:spPr>
          <a:xfrm>
            <a:off x="1552741" y="1404259"/>
            <a:ext cx="903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Request Payment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491E98-6710-6655-BF7F-27E345C3CFDC}"/>
              </a:ext>
            </a:extLst>
          </p:cNvPr>
          <p:cNvSpPr txBox="1"/>
          <p:nvPr/>
        </p:nvSpPr>
        <p:spPr>
          <a:xfrm>
            <a:off x="2853583" y="1404259"/>
            <a:ext cx="903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Sell airtime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DF081D-A2CF-70C8-68BA-8B35123BEDE1}"/>
              </a:ext>
            </a:extLst>
          </p:cNvPr>
          <p:cNvSpPr txBox="1"/>
          <p:nvPr/>
        </p:nvSpPr>
        <p:spPr>
          <a:xfrm>
            <a:off x="4139982" y="1283204"/>
            <a:ext cx="11021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Sell  Package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3093D2-4A23-AFF1-ACFC-3153F2857235}"/>
              </a:ext>
            </a:extLst>
          </p:cNvPr>
          <p:cNvSpPr txBox="1"/>
          <p:nvPr/>
        </p:nvSpPr>
        <p:spPr>
          <a:xfrm>
            <a:off x="1612896" y="2542481"/>
            <a:ext cx="11021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Assisted Payment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538ECF-DDBB-DAA9-A422-3EA0CFD44B2B}"/>
              </a:ext>
            </a:extLst>
          </p:cNvPr>
          <p:cNvSpPr txBox="1"/>
          <p:nvPr/>
        </p:nvSpPr>
        <p:spPr>
          <a:xfrm>
            <a:off x="2754250" y="2524080"/>
            <a:ext cx="11021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Deposit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F25DD6-AFC4-E6EC-4A02-76CB56C896F5}"/>
              </a:ext>
            </a:extLst>
          </p:cNvPr>
          <p:cNvSpPr txBox="1"/>
          <p:nvPr/>
        </p:nvSpPr>
        <p:spPr>
          <a:xfrm>
            <a:off x="4032390" y="2444947"/>
            <a:ext cx="11021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Self Service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5BF53E-F104-2C86-DE24-AADA4C71D946}"/>
              </a:ext>
            </a:extLst>
          </p:cNvPr>
          <p:cNvSpPr txBox="1"/>
          <p:nvPr/>
        </p:nvSpPr>
        <p:spPr>
          <a:xfrm>
            <a:off x="5884739" y="765676"/>
            <a:ext cx="23766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Assisted Payment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9F1658-E4ED-97F5-67BC-16BAC0C9DBAD}"/>
              </a:ext>
            </a:extLst>
          </p:cNvPr>
          <p:cNvSpPr txBox="1"/>
          <p:nvPr/>
        </p:nvSpPr>
        <p:spPr>
          <a:xfrm>
            <a:off x="5884739" y="1178949"/>
            <a:ext cx="184105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School Payment</a:t>
            </a: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Water </a:t>
            </a: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EEU</a:t>
            </a: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/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968A86-D1C2-A7DC-C9E6-EE068197D3C2}"/>
              </a:ext>
            </a:extLst>
          </p:cNvPr>
          <p:cNvSpPr txBox="1"/>
          <p:nvPr/>
        </p:nvSpPr>
        <p:spPr>
          <a:xfrm>
            <a:off x="5917334" y="2323914"/>
            <a:ext cx="12333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Self Service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9D26F3-3E8D-E614-2E1B-59A67155D223}"/>
              </a:ext>
            </a:extLst>
          </p:cNvPr>
          <p:cNvSpPr txBox="1"/>
          <p:nvPr/>
        </p:nvSpPr>
        <p:spPr>
          <a:xfrm>
            <a:off x="5917334" y="2677968"/>
            <a:ext cx="184105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Withdraw to my bank</a:t>
            </a:r>
          </a:p>
          <a:p>
            <a:endParaRPr lang="en-US" sz="1400" dirty="0">
              <a:solidFill>
                <a:srgbClr val="FF0000"/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Add Money</a:t>
            </a: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EVD</a:t>
            </a: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</a:endParaRPr>
          </a:p>
          <a:p>
            <a:r>
              <a:rPr lang="en-US" sz="1400" dirty="0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A86AB5-4972-65EC-8B0A-12BAEBD73230}"/>
              </a:ext>
            </a:extLst>
          </p:cNvPr>
          <p:cNvSpPr txBox="1"/>
          <p:nvPr/>
        </p:nvSpPr>
        <p:spPr>
          <a:xfrm>
            <a:off x="9241971" y="723476"/>
            <a:ext cx="60960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Request Payment</a:t>
            </a:r>
          </a:p>
          <a:p>
            <a:endParaRPr lang="en-US" sz="1400" dirty="0">
              <a:solidFill>
                <a:srgbClr val="FF0000"/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Generate QR</a:t>
            </a: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Request to pay</a:t>
            </a: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From MPESA wallet via link</a:t>
            </a: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From international card via link</a:t>
            </a:r>
          </a:p>
        </p:txBody>
      </p:sp>
    </p:spTree>
    <p:extLst>
      <p:ext uri="{BB962C8B-B14F-4D97-AF65-F5344CB8AC3E}">
        <p14:creationId xmlns:p14="http://schemas.microsoft.com/office/powerpoint/2010/main" val="1896544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FE2E3-E443-6ADB-7C1C-EF548C275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48ECC-2A6B-4425-A748-FE78B8BC6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2103437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dirty="0">
                <a:solidFill>
                  <a:srgbClr val="FF0000"/>
                </a:solidFill>
              </a:rPr>
              <a:t>Large and Medium Merchant Product with Primary and Finance Operator</a:t>
            </a:r>
          </a:p>
        </p:txBody>
      </p:sp>
    </p:spTree>
    <p:extLst>
      <p:ext uri="{BB962C8B-B14F-4D97-AF65-F5344CB8AC3E}">
        <p14:creationId xmlns:p14="http://schemas.microsoft.com/office/powerpoint/2010/main" val="3890878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C63B2-3F79-3E04-CE59-01F692461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>
            <a:extLst>
              <a:ext uri="{FF2B5EF4-FFF2-40B4-BE49-F238E27FC236}">
                <a16:creationId xmlns:a16="http://schemas.microsoft.com/office/drawing/2014/main" id="{8021D8FE-8DD4-8F1C-EADF-773D38028672}"/>
              </a:ext>
            </a:extLst>
          </p:cNvPr>
          <p:cNvSpPr txBox="1"/>
          <p:nvPr/>
        </p:nvSpPr>
        <p:spPr>
          <a:xfrm>
            <a:off x="1717658" y="274726"/>
            <a:ext cx="7025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Large Merchant HO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BB2A23-3191-847A-9663-3637E84192CE}"/>
              </a:ext>
            </a:extLst>
          </p:cNvPr>
          <p:cNvSpPr/>
          <p:nvPr/>
        </p:nvSpPr>
        <p:spPr>
          <a:xfrm flipH="1" flipV="1">
            <a:off x="1389453" y="765676"/>
            <a:ext cx="4268550" cy="55589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B27619-8351-25C6-2013-488F23E27901}"/>
              </a:ext>
            </a:extLst>
          </p:cNvPr>
          <p:cNvSpPr txBox="1"/>
          <p:nvPr/>
        </p:nvSpPr>
        <p:spPr>
          <a:xfrm>
            <a:off x="1552741" y="1404259"/>
            <a:ext cx="903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Request Payment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25B225-B5D2-37D9-F1D7-491BA6163F44}"/>
              </a:ext>
            </a:extLst>
          </p:cNvPr>
          <p:cNvSpPr txBox="1"/>
          <p:nvPr/>
        </p:nvSpPr>
        <p:spPr>
          <a:xfrm>
            <a:off x="3713782" y="1393375"/>
            <a:ext cx="11021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Self Service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E52B01-D986-60E7-0C1F-C8C06645AD46}"/>
              </a:ext>
            </a:extLst>
          </p:cNvPr>
          <p:cNvSpPr txBox="1"/>
          <p:nvPr/>
        </p:nvSpPr>
        <p:spPr>
          <a:xfrm>
            <a:off x="5917334" y="2323914"/>
            <a:ext cx="12333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Self Service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53B41D-200F-9C1D-1082-7DC6D0601988}"/>
              </a:ext>
            </a:extLst>
          </p:cNvPr>
          <p:cNvSpPr txBox="1"/>
          <p:nvPr/>
        </p:nvSpPr>
        <p:spPr>
          <a:xfrm>
            <a:off x="5917334" y="2677968"/>
            <a:ext cx="1841053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Withdraw to bank</a:t>
            </a:r>
          </a:p>
          <a:p>
            <a:endParaRPr lang="en-US" sz="1400" dirty="0">
              <a:solidFill>
                <a:srgbClr val="FF0000"/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Add Money</a:t>
            </a: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Distribute Float</a:t>
            </a: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Collect balance</a:t>
            </a: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</a:endParaRPr>
          </a:p>
          <a:p>
            <a:r>
              <a:rPr lang="en-US" sz="1400" dirty="0"/>
              <a:t>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E4A5C4-1C43-81DA-5DF5-8F6DCFA914E4}"/>
              </a:ext>
            </a:extLst>
          </p:cNvPr>
          <p:cNvSpPr txBox="1"/>
          <p:nvPr/>
        </p:nvSpPr>
        <p:spPr>
          <a:xfrm>
            <a:off x="8585691" y="2637196"/>
            <a:ext cx="184105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Withdraw to my bank</a:t>
            </a:r>
            <a:endParaRPr lang="en-US" sz="1400" dirty="0">
              <a:solidFill>
                <a:srgbClr val="FF0000"/>
              </a:solidFill>
            </a:endParaRP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Withdraw to Other bank</a:t>
            </a: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</a:endParaRP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/>
              <a:t> 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F6AB11C-8450-FAFF-6702-27AFC55BB12B}"/>
              </a:ext>
            </a:extLst>
          </p:cNvPr>
          <p:cNvCxnSpPr>
            <a:cxnSpLocks/>
          </p:cNvCxnSpPr>
          <p:nvPr/>
        </p:nvCxnSpPr>
        <p:spPr>
          <a:xfrm>
            <a:off x="7660198" y="2831857"/>
            <a:ext cx="74475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DB4B940-E001-D7C6-AE7A-F4F4ADBE5047}"/>
              </a:ext>
            </a:extLst>
          </p:cNvPr>
          <p:cNvSpPr txBox="1"/>
          <p:nvPr/>
        </p:nvSpPr>
        <p:spPr>
          <a:xfrm>
            <a:off x="5884739" y="4817126"/>
            <a:ext cx="60960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Request Payment</a:t>
            </a:r>
          </a:p>
          <a:p>
            <a:endParaRPr lang="en-US" sz="1400" dirty="0">
              <a:solidFill>
                <a:srgbClr val="FF0000"/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Generate QR</a:t>
            </a: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Request to pay</a:t>
            </a: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From MPESA wallet via link</a:t>
            </a: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From international card via link</a:t>
            </a:r>
          </a:p>
        </p:txBody>
      </p:sp>
    </p:spTree>
    <p:extLst>
      <p:ext uri="{BB962C8B-B14F-4D97-AF65-F5344CB8AC3E}">
        <p14:creationId xmlns:p14="http://schemas.microsoft.com/office/powerpoint/2010/main" val="16293616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1D51C-5772-BA93-CE36-030285844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>
            <a:extLst>
              <a:ext uri="{FF2B5EF4-FFF2-40B4-BE49-F238E27FC236}">
                <a16:creationId xmlns:a16="http://schemas.microsoft.com/office/drawing/2014/main" id="{1EAE9A2B-A4F0-A196-3CEF-6684A17D9D95}"/>
              </a:ext>
            </a:extLst>
          </p:cNvPr>
          <p:cNvSpPr txBox="1"/>
          <p:nvPr/>
        </p:nvSpPr>
        <p:spPr>
          <a:xfrm>
            <a:off x="1717658" y="274726"/>
            <a:ext cx="7025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Large Own Store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AB3897E-19AC-5803-9760-54A344873A1A}"/>
              </a:ext>
            </a:extLst>
          </p:cNvPr>
          <p:cNvSpPr/>
          <p:nvPr/>
        </p:nvSpPr>
        <p:spPr>
          <a:xfrm flipH="1" flipV="1">
            <a:off x="1389453" y="765676"/>
            <a:ext cx="4268550" cy="55589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328DAC-E7ED-7A2D-F8A3-78808033B943}"/>
              </a:ext>
            </a:extLst>
          </p:cNvPr>
          <p:cNvSpPr txBox="1"/>
          <p:nvPr/>
        </p:nvSpPr>
        <p:spPr>
          <a:xfrm>
            <a:off x="1552741" y="1404259"/>
            <a:ext cx="903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Request Payment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0367F9-1323-030B-A6A9-BFE3A49AB6DA}"/>
              </a:ext>
            </a:extLst>
          </p:cNvPr>
          <p:cNvSpPr txBox="1"/>
          <p:nvPr/>
        </p:nvSpPr>
        <p:spPr>
          <a:xfrm>
            <a:off x="3419868" y="1511980"/>
            <a:ext cx="11021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Self Service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9D5DD1-D31E-B457-B047-8F9F4BC333A6}"/>
              </a:ext>
            </a:extLst>
          </p:cNvPr>
          <p:cNvSpPr txBox="1"/>
          <p:nvPr/>
        </p:nvSpPr>
        <p:spPr>
          <a:xfrm>
            <a:off x="5917334" y="2323914"/>
            <a:ext cx="12333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Self Service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A96BA2-FF09-6BD3-7B7E-BE950DDC6C5E}"/>
              </a:ext>
            </a:extLst>
          </p:cNvPr>
          <p:cNvSpPr txBox="1"/>
          <p:nvPr/>
        </p:nvSpPr>
        <p:spPr>
          <a:xfrm>
            <a:off x="5917334" y="2677968"/>
            <a:ext cx="184105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Withdraw to my  bank</a:t>
            </a:r>
          </a:p>
          <a:p>
            <a:endParaRPr lang="en-US" sz="1400" dirty="0">
              <a:solidFill>
                <a:srgbClr val="FF0000"/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Add Money</a:t>
            </a: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</a:endParaRPr>
          </a:p>
          <a:p>
            <a:r>
              <a:rPr lang="en-US" sz="1400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9AA0F4-9592-A87F-9219-FCB4B2A78212}"/>
              </a:ext>
            </a:extLst>
          </p:cNvPr>
          <p:cNvSpPr txBox="1"/>
          <p:nvPr/>
        </p:nvSpPr>
        <p:spPr>
          <a:xfrm>
            <a:off x="5917334" y="3974869"/>
            <a:ext cx="60960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Request Payment</a:t>
            </a:r>
          </a:p>
          <a:p>
            <a:endParaRPr lang="en-US" sz="1400" dirty="0">
              <a:solidFill>
                <a:srgbClr val="FF0000"/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Generate QR</a:t>
            </a: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Request to pay</a:t>
            </a: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From MPESA wallet via link</a:t>
            </a: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From international card via link</a:t>
            </a:r>
          </a:p>
        </p:txBody>
      </p:sp>
    </p:spTree>
    <p:extLst>
      <p:ext uri="{BB962C8B-B14F-4D97-AF65-F5344CB8AC3E}">
        <p14:creationId xmlns:p14="http://schemas.microsoft.com/office/powerpoint/2010/main" val="17486868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7C301-3816-6D1B-9EE7-B36406734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>
            <a:extLst>
              <a:ext uri="{FF2B5EF4-FFF2-40B4-BE49-F238E27FC236}">
                <a16:creationId xmlns:a16="http://schemas.microsoft.com/office/drawing/2014/main" id="{9886CAE4-60DD-1EF5-6696-904A6A3ED5FE}"/>
              </a:ext>
            </a:extLst>
          </p:cNvPr>
          <p:cNvSpPr txBox="1"/>
          <p:nvPr/>
        </p:nvSpPr>
        <p:spPr>
          <a:xfrm>
            <a:off x="1717658" y="274726"/>
            <a:ext cx="7025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Medium Merchant HO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033C65-8F14-E2DB-AD6C-F73D8B8BB31A}"/>
              </a:ext>
            </a:extLst>
          </p:cNvPr>
          <p:cNvSpPr/>
          <p:nvPr/>
        </p:nvSpPr>
        <p:spPr>
          <a:xfrm flipH="1" flipV="1">
            <a:off x="1389453" y="765676"/>
            <a:ext cx="4268550" cy="55589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AC425C-E140-9A0A-5109-EA86BD4D9A3C}"/>
              </a:ext>
            </a:extLst>
          </p:cNvPr>
          <p:cNvSpPr txBox="1"/>
          <p:nvPr/>
        </p:nvSpPr>
        <p:spPr>
          <a:xfrm>
            <a:off x="1552741" y="1404259"/>
            <a:ext cx="903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Request Payment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5A44F2-584C-3A57-6F76-118DACEE0E34}"/>
              </a:ext>
            </a:extLst>
          </p:cNvPr>
          <p:cNvSpPr txBox="1"/>
          <p:nvPr/>
        </p:nvSpPr>
        <p:spPr>
          <a:xfrm>
            <a:off x="4128159" y="1404258"/>
            <a:ext cx="11021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Self Service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E74011-7577-CBCE-D397-DF8BDB921D5B}"/>
              </a:ext>
            </a:extLst>
          </p:cNvPr>
          <p:cNvSpPr txBox="1"/>
          <p:nvPr/>
        </p:nvSpPr>
        <p:spPr>
          <a:xfrm>
            <a:off x="5917334" y="2323914"/>
            <a:ext cx="12333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Self Service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E7CF2E-0047-09F5-E926-0B81DAD5E350}"/>
              </a:ext>
            </a:extLst>
          </p:cNvPr>
          <p:cNvSpPr txBox="1"/>
          <p:nvPr/>
        </p:nvSpPr>
        <p:spPr>
          <a:xfrm>
            <a:off x="5917334" y="2677968"/>
            <a:ext cx="1841053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Withdraw to bank</a:t>
            </a:r>
          </a:p>
          <a:p>
            <a:endParaRPr lang="en-US" sz="1400" dirty="0">
              <a:solidFill>
                <a:srgbClr val="FF0000"/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Add Money</a:t>
            </a: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Distribute Float</a:t>
            </a: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Collect Balance</a:t>
            </a: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</a:endParaRPr>
          </a:p>
          <a:p>
            <a:r>
              <a:rPr lang="en-US" sz="1400" dirty="0"/>
              <a:t>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A690AD-20D6-B9B4-B42F-035C67E8BE1F}"/>
              </a:ext>
            </a:extLst>
          </p:cNvPr>
          <p:cNvSpPr txBox="1"/>
          <p:nvPr/>
        </p:nvSpPr>
        <p:spPr>
          <a:xfrm>
            <a:off x="8585691" y="2637196"/>
            <a:ext cx="184105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Withdraw to my bank</a:t>
            </a:r>
            <a:endParaRPr lang="en-US" sz="1400" dirty="0">
              <a:solidFill>
                <a:srgbClr val="FF0000"/>
              </a:solidFill>
            </a:endParaRP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Withdraw to Other bank</a:t>
            </a: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</a:endParaRP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/>
              <a:t> 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05E34EE-A231-7019-E179-6D58D8DEEED3}"/>
              </a:ext>
            </a:extLst>
          </p:cNvPr>
          <p:cNvCxnSpPr>
            <a:cxnSpLocks/>
          </p:cNvCxnSpPr>
          <p:nvPr/>
        </p:nvCxnSpPr>
        <p:spPr>
          <a:xfrm>
            <a:off x="7660198" y="2831857"/>
            <a:ext cx="74475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2C8F473-B593-FED1-DECB-D9F15E73F255}"/>
              </a:ext>
            </a:extLst>
          </p:cNvPr>
          <p:cNvSpPr txBox="1"/>
          <p:nvPr/>
        </p:nvSpPr>
        <p:spPr>
          <a:xfrm>
            <a:off x="5960057" y="4817126"/>
            <a:ext cx="60960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Request Payment</a:t>
            </a:r>
          </a:p>
          <a:p>
            <a:endParaRPr lang="en-US" sz="1400" dirty="0">
              <a:solidFill>
                <a:srgbClr val="FF0000"/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Generate QR</a:t>
            </a: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Request to pay</a:t>
            </a: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From MPESA wallet via link</a:t>
            </a: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From international card via link</a:t>
            </a:r>
          </a:p>
        </p:txBody>
      </p:sp>
    </p:spTree>
    <p:extLst>
      <p:ext uri="{BB962C8B-B14F-4D97-AF65-F5344CB8AC3E}">
        <p14:creationId xmlns:p14="http://schemas.microsoft.com/office/powerpoint/2010/main" val="25714042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B91CB-71F5-592A-6EEB-33D68A0C8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>
            <a:extLst>
              <a:ext uri="{FF2B5EF4-FFF2-40B4-BE49-F238E27FC236}">
                <a16:creationId xmlns:a16="http://schemas.microsoft.com/office/drawing/2014/main" id="{BD571719-BAF7-B2F8-7A6F-DECD92E69BCB}"/>
              </a:ext>
            </a:extLst>
          </p:cNvPr>
          <p:cNvSpPr txBox="1"/>
          <p:nvPr/>
        </p:nvSpPr>
        <p:spPr>
          <a:xfrm>
            <a:off x="1717658" y="274726"/>
            <a:ext cx="7025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Medium Merchant Own  Store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36CB16-7803-34E7-0C39-A7D463827DBF}"/>
              </a:ext>
            </a:extLst>
          </p:cNvPr>
          <p:cNvSpPr/>
          <p:nvPr/>
        </p:nvSpPr>
        <p:spPr>
          <a:xfrm flipH="1" flipV="1">
            <a:off x="1389453" y="765676"/>
            <a:ext cx="4268550" cy="55589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6BFA65-9134-7A1E-6ABE-01DA2F2C25EC}"/>
              </a:ext>
            </a:extLst>
          </p:cNvPr>
          <p:cNvSpPr txBox="1"/>
          <p:nvPr/>
        </p:nvSpPr>
        <p:spPr>
          <a:xfrm>
            <a:off x="1552741" y="1404259"/>
            <a:ext cx="903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RequestPayment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9774E8-7F0E-DCFD-AA7D-5BCE547AAA4B}"/>
              </a:ext>
            </a:extLst>
          </p:cNvPr>
          <p:cNvSpPr txBox="1"/>
          <p:nvPr/>
        </p:nvSpPr>
        <p:spPr>
          <a:xfrm>
            <a:off x="1552741" y="2477884"/>
            <a:ext cx="11021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Self Service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7A50FA-1360-C7CC-2B46-07C93E224372}"/>
              </a:ext>
            </a:extLst>
          </p:cNvPr>
          <p:cNvSpPr txBox="1"/>
          <p:nvPr/>
        </p:nvSpPr>
        <p:spPr>
          <a:xfrm>
            <a:off x="5917334" y="2323914"/>
            <a:ext cx="12333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Self Service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4E2B0F-C7F2-5431-A9D0-5778A35D4CDB}"/>
              </a:ext>
            </a:extLst>
          </p:cNvPr>
          <p:cNvSpPr txBox="1"/>
          <p:nvPr/>
        </p:nvSpPr>
        <p:spPr>
          <a:xfrm>
            <a:off x="5917334" y="2677968"/>
            <a:ext cx="184105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Withdraw to my Bank  </a:t>
            </a:r>
          </a:p>
          <a:p>
            <a:endParaRPr lang="en-US" sz="1400" dirty="0"/>
          </a:p>
          <a:p>
            <a:endParaRPr lang="en-US" sz="1400" dirty="0">
              <a:solidFill>
                <a:srgbClr val="FF0000"/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Add Money</a:t>
            </a: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</a:endParaRPr>
          </a:p>
          <a:p>
            <a:r>
              <a:rPr lang="en-US" sz="1400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A0C44F-0193-1990-3480-3A80C476CD74}"/>
              </a:ext>
            </a:extLst>
          </p:cNvPr>
          <p:cNvSpPr txBox="1"/>
          <p:nvPr/>
        </p:nvSpPr>
        <p:spPr>
          <a:xfrm>
            <a:off x="3020816" y="1404259"/>
            <a:ext cx="903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Sell Airtime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925D3C-AB81-ACD4-7D8D-5F30BC8631D3}"/>
              </a:ext>
            </a:extLst>
          </p:cNvPr>
          <p:cNvSpPr txBox="1"/>
          <p:nvPr/>
        </p:nvSpPr>
        <p:spPr>
          <a:xfrm>
            <a:off x="4326823" y="1427991"/>
            <a:ext cx="903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Sell Package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98094B-6413-4CFD-8840-7D027C5F08C2}"/>
              </a:ext>
            </a:extLst>
          </p:cNvPr>
          <p:cNvSpPr txBox="1"/>
          <p:nvPr/>
        </p:nvSpPr>
        <p:spPr>
          <a:xfrm>
            <a:off x="6008914" y="4491886"/>
            <a:ext cx="60960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Request Payment</a:t>
            </a:r>
          </a:p>
          <a:p>
            <a:endParaRPr lang="en-US" sz="1400" dirty="0">
              <a:solidFill>
                <a:srgbClr val="FF0000"/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Generate QR</a:t>
            </a: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Request to pay</a:t>
            </a: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From MPESA wallet via link</a:t>
            </a: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From international card via link</a:t>
            </a:r>
          </a:p>
        </p:txBody>
      </p:sp>
    </p:spTree>
    <p:extLst>
      <p:ext uri="{BB962C8B-B14F-4D97-AF65-F5344CB8AC3E}">
        <p14:creationId xmlns:p14="http://schemas.microsoft.com/office/powerpoint/2010/main" val="8395126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FC507-8FC0-F42F-8C7B-463F095DE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0EF1F-ED8E-D3E0-BF3E-BEA0FA34A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2103437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dirty="0">
                <a:solidFill>
                  <a:srgbClr val="FF0000"/>
                </a:solidFill>
              </a:rPr>
              <a:t>Large and Medium Merchant Product as an Assistant Operator</a:t>
            </a:r>
          </a:p>
        </p:txBody>
      </p:sp>
    </p:spTree>
    <p:extLst>
      <p:ext uri="{BB962C8B-B14F-4D97-AF65-F5344CB8AC3E}">
        <p14:creationId xmlns:p14="http://schemas.microsoft.com/office/powerpoint/2010/main" val="17712863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50B0B-2EEF-9EE7-4D86-EF15963EE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>
            <a:extLst>
              <a:ext uri="{FF2B5EF4-FFF2-40B4-BE49-F238E27FC236}">
                <a16:creationId xmlns:a16="http://schemas.microsoft.com/office/drawing/2014/main" id="{CAD37400-1D5B-7D96-353C-9D09D2B61021}"/>
              </a:ext>
            </a:extLst>
          </p:cNvPr>
          <p:cNvSpPr txBox="1"/>
          <p:nvPr/>
        </p:nvSpPr>
        <p:spPr>
          <a:xfrm>
            <a:off x="1717658" y="274726"/>
            <a:ext cx="7025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Large Merchant HO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A732DEA-6A90-3233-4C8F-3D0FE9A0D39A}"/>
              </a:ext>
            </a:extLst>
          </p:cNvPr>
          <p:cNvSpPr/>
          <p:nvPr/>
        </p:nvSpPr>
        <p:spPr>
          <a:xfrm flipH="1" flipV="1">
            <a:off x="1389453" y="765676"/>
            <a:ext cx="4268550" cy="55589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D59036-65F6-B871-6539-963DB352E1DA}"/>
              </a:ext>
            </a:extLst>
          </p:cNvPr>
          <p:cNvSpPr txBox="1"/>
          <p:nvPr/>
        </p:nvSpPr>
        <p:spPr>
          <a:xfrm>
            <a:off x="1552741" y="1404259"/>
            <a:ext cx="903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Request Payment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208AF1-B307-73C3-DDF1-D435280F386B}"/>
              </a:ext>
            </a:extLst>
          </p:cNvPr>
          <p:cNvSpPr txBox="1"/>
          <p:nvPr/>
        </p:nvSpPr>
        <p:spPr>
          <a:xfrm>
            <a:off x="4236296" y="1429495"/>
            <a:ext cx="11021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Self Service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1F441B-7241-C3EA-CD22-D9EBAE435677}"/>
              </a:ext>
            </a:extLst>
          </p:cNvPr>
          <p:cNvSpPr txBox="1"/>
          <p:nvPr/>
        </p:nvSpPr>
        <p:spPr>
          <a:xfrm>
            <a:off x="5917334" y="2323914"/>
            <a:ext cx="12333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Self Service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64B383-D476-B371-3C73-36B40CBAB8B3}"/>
              </a:ext>
            </a:extLst>
          </p:cNvPr>
          <p:cNvSpPr txBox="1"/>
          <p:nvPr/>
        </p:nvSpPr>
        <p:spPr>
          <a:xfrm>
            <a:off x="5917334" y="2677968"/>
            <a:ext cx="1841053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Withdraw to my  bank</a:t>
            </a:r>
          </a:p>
          <a:p>
            <a:endParaRPr lang="en-US" sz="1400" dirty="0">
              <a:solidFill>
                <a:srgbClr val="FF0000"/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Add Money</a:t>
            </a: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Distribute Float</a:t>
            </a: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Collect Balance</a:t>
            </a: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</a:endParaRPr>
          </a:p>
          <a:p>
            <a:r>
              <a:rPr lang="en-US" sz="1400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3E3495-74C7-5A60-4E74-B0DF57C33A4D}"/>
              </a:ext>
            </a:extLst>
          </p:cNvPr>
          <p:cNvSpPr txBox="1"/>
          <p:nvPr/>
        </p:nvSpPr>
        <p:spPr>
          <a:xfrm>
            <a:off x="5917334" y="4724161"/>
            <a:ext cx="60960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Request Payment</a:t>
            </a:r>
          </a:p>
          <a:p>
            <a:endParaRPr lang="en-US" sz="1400" dirty="0">
              <a:solidFill>
                <a:srgbClr val="FF0000"/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Generate QR</a:t>
            </a: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Request to pay</a:t>
            </a: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From MPESA wallet via link</a:t>
            </a: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From international card via link</a:t>
            </a:r>
          </a:p>
        </p:txBody>
      </p:sp>
    </p:spTree>
    <p:extLst>
      <p:ext uri="{BB962C8B-B14F-4D97-AF65-F5344CB8AC3E}">
        <p14:creationId xmlns:p14="http://schemas.microsoft.com/office/powerpoint/2010/main" val="29020225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9D156-3B10-8315-86D3-E41AE8AD1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>
            <a:extLst>
              <a:ext uri="{FF2B5EF4-FFF2-40B4-BE49-F238E27FC236}">
                <a16:creationId xmlns:a16="http://schemas.microsoft.com/office/drawing/2014/main" id="{A08F4A92-7D0A-4904-349D-5F674BFC5F85}"/>
              </a:ext>
            </a:extLst>
          </p:cNvPr>
          <p:cNvSpPr txBox="1"/>
          <p:nvPr/>
        </p:nvSpPr>
        <p:spPr>
          <a:xfrm>
            <a:off x="1717658" y="274726"/>
            <a:ext cx="7025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Large Own Store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C88773-DFAF-1858-04F0-1CDDEEE44B64}"/>
              </a:ext>
            </a:extLst>
          </p:cNvPr>
          <p:cNvSpPr/>
          <p:nvPr/>
        </p:nvSpPr>
        <p:spPr>
          <a:xfrm flipH="1" flipV="1">
            <a:off x="1389453" y="765676"/>
            <a:ext cx="4268550" cy="55589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EF3BB3-BFCA-1124-F803-15B59069DE72}"/>
              </a:ext>
            </a:extLst>
          </p:cNvPr>
          <p:cNvSpPr txBox="1"/>
          <p:nvPr/>
        </p:nvSpPr>
        <p:spPr>
          <a:xfrm>
            <a:off x="1552741" y="1404259"/>
            <a:ext cx="903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RequestPayment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F0BA32-4C82-A542-3487-A763649D726F}"/>
              </a:ext>
            </a:extLst>
          </p:cNvPr>
          <p:cNvSpPr txBox="1"/>
          <p:nvPr/>
        </p:nvSpPr>
        <p:spPr>
          <a:xfrm>
            <a:off x="4236296" y="1429495"/>
            <a:ext cx="11021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Self Service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3818BF-D597-3EC6-AAEC-95E873A7A77D}"/>
              </a:ext>
            </a:extLst>
          </p:cNvPr>
          <p:cNvSpPr txBox="1"/>
          <p:nvPr/>
        </p:nvSpPr>
        <p:spPr>
          <a:xfrm>
            <a:off x="5917334" y="2323914"/>
            <a:ext cx="12333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Self Service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99EAE8-F9D9-C035-9BCF-EEF195630740}"/>
              </a:ext>
            </a:extLst>
          </p:cNvPr>
          <p:cNvSpPr txBox="1"/>
          <p:nvPr/>
        </p:nvSpPr>
        <p:spPr>
          <a:xfrm>
            <a:off x="5917334" y="2677968"/>
            <a:ext cx="184105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Withdraw to my  bank</a:t>
            </a:r>
          </a:p>
          <a:p>
            <a:endParaRPr lang="en-US" sz="1400" dirty="0">
              <a:solidFill>
                <a:srgbClr val="FF0000"/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Add Money</a:t>
            </a: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</a:endParaRPr>
          </a:p>
          <a:p>
            <a:r>
              <a:rPr lang="en-US" sz="1400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F9697D-FB19-2D2A-04BA-4C2175922C60}"/>
              </a:ext>
            </a:extLst>
          </p:cNvPr>
          <p:cNvSpPr txBox="1"/>
          <p:nvPr/>
        </p:nvSpPr>
        <p:spPr>
          <a:xfrm>
            <a:off x="5884739" y="4381380"/>
            <a:ext cx="60960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Request Payment</a:t>
            </a:r>
          </a:p>
          <a:p>
            <a:endParaRPr lang="en-US" sz="1400" dirty="0">
              <a:solidFill>
                <a:srgbClr val="FF0000"/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Generate QR</a:t>
            </a: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Request to pay</a:t>
            </a: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From MPESA wallet via link</a:t>
            </a: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From international card via link</a:t>
            </a:r>
          </a:p>
        </p:txBody>
      </p:sp>
    </p:spTree>
    <p:extLst>
      <p:ext uri="{BB962C8B-B14F-4D97-AF65-F5344CB8AC3E}">
        <p14:creationId xmlns:p14="http://schemas.microsoft.com/office/powerpoint/2010/main" val="6390669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E449D-CE9F-E1B0-5AB5-7E99FDD6F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>
            <a:extLst>
              <a:ext uri="{FF2B5EF4-FFF2-40B4-BE49-F238E27FC236}">
                <a16:creationId xmlns:a16="http://schemas.microsoft.com/office/drawing/2014/main" id="{AC774281-E21A-17DE-D196-6A52AE8CD8F7}"/>
              </a:ext>
            </a:extLst>
          </p:cNvPr>
          <p:cNvSpPr txBox="1"/>
          <p:nvPr/>
        </p:nvSpPr>
        <p:spPr>
          <a:xfrm>
            <a:off x="1717658" y="274726"/>
            <a:ext cx="7025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Medium Merchant HO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7C684E-5454-DE2B-496F-18B318483E88}"/>
              </a:ext>
            </a:extLst>
          </p:cNvPr>
          <p:cNvSpPr/>
          <p:nvPr/>
        </p:nvSpPr>
        <p:spPr>
          <a:xfrm flipH="1" flipV="1">
            <a:off x="1389453" y="765676"/>
            <a:ext cx="4268550" cy="55589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0EB093-AD39-2232-E557-2FD63D81B02C}"/>
              </a:ext>
            </a:extLst>
          </p:cNvPr>
          <p:cNvSpPr txBox="1"/>
          <p:nvPr/>
        </p:nvSpPr>
        <p:spPr>
          <a:xfrm>
            <a:off x="1552741" y="1404259"/>
            <a:ext cx="903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Request Payment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29A6D2-7F23-DBC9-EB43-21EAD2F26138}"/>
              </a:ext>
            </a:extLst>
          </p:cNvPr>
          <p:cNvSpPr txBox="1"/>
          <p:nvPr/>
        </p:nvSpPr>
        <p:spPr>
          <a:xfrm>
            <a:off x="4128159" y="1404258"/>
            <a:ext cx="11021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Self Service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48CC60-88D1-2D3D-32BC-DD149C6D8DF4}"/>
              </a:ext>
            </a:extLst>
          </p:cNvPr>
          <p:cNvSpPr txBox="1"/>
          <p:nvPr/>
        </p:nvSpPr>
        <p:spPr>
          <a:xfrm>
            <a:off x="5917334" y="2323914"/>
            <a:ext cx="12333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Self Service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5C7789-0376-1023-B012-CC6F0D5D5FB4}"/>
              </a:ext>
            </a:extLst>
          </p:cNvPr>
          <p:cNvSpPr txBox="1"/>
          <p:nvPr/>
        </p:nvSpPr>
        <p:spPr>
          <a:xfrm>
            <a:off x="5917334" y="2677968"/>
            <a:ext cx="1841053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Withdraw to my bank</a:t>
            </a:r>
          </a:p>
          <a:p>
            <a:endParaRPr lang="en-US" sz="1400" dirty="0">
              <a:solidFill>
                <a:srgbClr val="FF0000"/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Add Money</a:t>
            </a: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Distribute Float</a:t>
            </a: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Collect Balance</a:t>
            </a: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</a:endParaRPr>
          </a:p>
          <a:p>
            <a:r>
              <a:rPr lang="en-US" sz="1400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D13309-83BB-1A87-3CF4-7B292BCA4AC1}"/>
              </a:ext>
            </a:extLst>
          </p:cNvPr>
          <p:cNvSpPr txBox="1"/>
          <p:nvPr/>
        </p:nvSpPr>
        <p:spPr>
          <a:xfrm>
            <a:off x="5884739" y="5004690"/>
            <a:ext cx="60960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Request Payment</a:t>
            </a:r>
          </a:p>
          <a:p>
            <a:endParaRPr lang="en-US" sz="1400" dirty="0">
              <a:solidFill>
                <a:srgbClr val="FF0000"/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Generate QR</a:t>
            </a: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Request to pay</a:t>
            </a: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From MPESA wallet via link</a:t>
            </a: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From international card via link</a:t>
            </a:r>
          </a:p>
        </p:txBody>
      </p:sp>
    </p:spTree>
    <p:extLst>
      <p:ext uri="{BB962C8B-B14F-4D97-AF65-F5344CB8AC3E}">
        <p14:creationId xmlns:p14="http://schemas.microsoft.com/office/powerpoint/2010/main" val="40006678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F6693-EE52-E460-3418-E011D3840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>
            <a:extLst>
              <a:ext uri="{FF2B5EF4-FFF2-40B4-BE49-F238E27FC236}">
                <a16:creationId xmlns:a16="http://schemas.microsoft.com/office/drawing/2014/main" id="{BE3F25A0-AD87-D8B1-FF6E-C64557E0266A}"/>
              </a:ext>
            </a:extLst>
          </p:cNvPr>
          <p:cNvSpPr txBox="1"/>
          <p:nvPr/>
        </p:nvSpPr>
        <p:spPr>
          <a:xfrm>
            <a:off x="1717658" y="274726"/>
            <a:ext cx="7025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Medium Merchant Own  Store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94CA17-99C9-5765-BC43-0B4A048F5AA1}"/>
              </a:ext>
            </a:extLst>
          </p:cNvPr>
          <p:cNvSpPr/>
          <p:nvPr/>
        </p:nvSpPr>
        <p:spPr>
          <a:xfrm flipH="1" flipV="1">
            <a:off x="1389453" y="765676"/>
            <a:ext cx="4268550" cy="55589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E2DDCF-9014-83F8-0147-86D964AA0AE3}"/>
              </a:ext>
            </a:extLst>
          </p:cNvPr>
          <p:cNvSpPr txBox="1"/>
          <p:nvPr/>
        </p:nvSpPr>
        <p:spPr>
          <a:xfrm>
            <a:off x="1552741" y="1404259"/>
            <a:ext cx="903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Request Payment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646E8C-703A-9E97-4931-4BE6A64837F6}"/>
              </a:ext>
            </a:extLst>
          </p:cNvPr>
          <p:cNvSpPr txBox="1"/>
          <p:nvPr/>
        </p:nvSpPr>
        <p:spPr>
          <a:xfrm>
            <a:off x="1552741" y="2566062"/>
            <a:ext cx="11021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Self Service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BB0AA3-95A7-5647-A477-F05BFFF6C5C0}"/>
              </a:ext>
            </a:extLst>
          </p:cNvPr>
          <p:cNvSpPr txBox="1"/>
          <p:nvPr/>
        </p:nvSpPr>
        <p:spPr>
          <a:xfrm>
            <a:off x="5917334" y="2323914"/>
            <a:ext cx="12333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Self Service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C41573-5604-15DE-914C-A85327315CA0}"/>
              </a:ext>
            </a:extLst>
          </p:cNvPr>
          <p:cNvSpPr txBox="1"/>
          <p:nvPr/>
        </p:nvSpPr>
        <p:spPr>
          <a:xfrm>
            <a:off x="5917334" y="2677968"/>
            <a:ext cx="184105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Withdraw to my Bank  </a:t>
            </a:r>
          </a:p>
          <a:p>
            <a:endParaRPr lang="en-US" sz="1400" dirty="0"/>
          </a:p>
          <a:p>
            <a:endParaRPr lang="en-US" sz="1400" dirty="0">
              <a:solidFill>
                <a:srgbClr val="FF0000"/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Add Money</a:t>
            </a: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</a:endParaRPr>
          </a:p>
          <a:p>
            <a:r>
              <a:rPr lang="en-US" sz="1400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D0DDEE-5A3B-F862-98FB-72B05A2BA5BC}"/>
              </a:ext>
            </a:extLst>
          </p:cNvPr>
          <p:cNvSpPr txBox="1"/>
          <p:nvPr/>
        </p:nvSpPr>
        <p:spPr>
          <a:xfrm>
            <a:off x="3020816" y="1404259"/>
            <a:ext cx="903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Sell Airtime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6679EC-684F-FEB9-142B-3BF441A98C01}"/>
              </a:ext>
            </a:extLst>
          </p:cNvPr>
          <p:cNvSpPr txBox="1"/>
          <p:nvPr/>
        </p:nvSpPr>
        <p:spPr>
          <a:xfrm>
            <a:off x="4326823" y="1427991"/>
            <a:ext cx="903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Sell Package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50461E-D313-2231-7BC4-B367A7550BE0}"/>
              </a:ext>
            </a:extLst>
          </p:cNvPr>
          <p:cNvSpPr txBox="1"/>
          <p:nvPr/>
        </p:nvSpPr>
        <p:spPr>
          <a:xfrm>
            <a:off x="5917334" y="4215507"/>
            <a:ext cx="60960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Request Payment</a:t>
            </a:r>
          </a:p>
          <a:p>
            <a:endParaRPr lang="en-US" sz="1400" dirty="0">
              <a:solidFill>
                <a:srgbClr val="FF0000"/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Generate QR</a:t>
            </a: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Request to pay</a:t>
            </a: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From MPESA wallet via link</a:t>
            </a: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From international card via link</a:t>
            </a:r>
          </a:p>
        </p:txBody>
      </p:sp>
    </p:spTree>
    <p:extLst>
      <p:ext uri="{BB962C8B-B14F-4D97-AF65-F5344CB8AC3E}">
        <p14:creationId xmlns:p14="http://schemas.microsoft.com/office/powerpoint/2010/main" val="34317677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34B7D-71FD-8C0E-73E2-655058B6E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B0188-085E-820C-A20F-A6BC4E618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2103437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dirty="0">
                <a:solidFill>
                  <a:srgbClr val="FF0000"/>
                </a:solidFill>
              </a:rPr>
              <a:t>Micro Merchant Product with Primary and Finance Operator</a:t>
            </a:r>
          </a:p>
        </p:txBody>
      </p:sp>
    </p:spTree>
    <p:extLst>
      <p:ext uri="{BB962C8B-B14F-4D97-AF65-F5344CB8AC3E}">
        <p14:creationId xmlns:p14="http://schemas.microsoft.com/office/powerpoint/2010/main" val="42003800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830E0-8CD5-B4B1-E376-86BD1D08E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>
            <a:extLst>
              <a:ext uri="{FF2B5EF4-FFF2-40B4-BE49-F238E27FC236}">
                <a16:creationId xmlns:a16="http://schemas.microsoft.com/office/drawing/2014/main" id="{29BBD58D-DFE3-A706-FBEA-1F99A7638E86}"/>
              </a:ext>
            </a:extLst>
          </p:cNvPr>
          <p:cNvSpPr txBox="1"/>
          <p:nvPr/>
        </p:nvSpPr>
        <p:spPr>
          <a:xfrm>
            <a:off x="1717657" y="274726"/>
            <a:ext cx="9004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Micro merchant/ Airtime channel classification and  payment merchant type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E209C0-0EAF-3CE0-4A84-9FF4634E024C}"/>
              </a:ext>
            </a:extLst>
          </p:cNvPr>
          <p:cNvSpPr/>
          <p:nvPr/>
        </p:nvSpPr>
        <p:spPr>
          <a:xfrm flipH="1" flipV="1">
            <a:off x="1389453" y="765676"/>
            <a:ext cx="4268550" cy="55589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1E434E-91CB-C709-EB3F-87BBA62ED5DB}"/>
              </a:ext>
            </a:extLst>
          </p:cNvPr>
          <p:cNvSpPr txBox="1"/>
          <p:nvPr/>
        </p:nvSpPr>
        <p:spPr>
          <a:xfrm>
            <a:off x="1552741" y="2406349"/>
            <a:ext cx="903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RequestPayment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F098F6-2429-8A80-D560-E22E610D1DD2}"/>
              </a:ext>
            </a:extLst>
          </p:cNvPr>
          <p:cNvSpPr txBox="1"/>
          <p:nvPr/>
        </p:nvSpPr>
        <p:spPr>
          <a:xfrm>
            <a:off x="2864469" y="2370081"/>
            <a:ext cx="903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Sell airtime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5CD708-2F91-6144-3D30-E5E33B139060}"/>
              </a:ext>
            </a:extLst>
          </p:cNvPr>
          <p:cNvSpPr txBox="1"/>
          <p:nvPr/>
        </p:nvSpPr>
        <p:spPr>
          <a:xfrm>
            <a:off x="4390354" y="2323914"/>
            <a:ext cx="11021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Sell  Package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506AB0-5E5A-4637-12AB-4B6B289054C4}"/>
              </a:ext>
            </a:extLst>
          </p:cNvPr>
          <p:cNvSpPr txBox="1"/>
          <p:nvPr/>
        </p:nvSpPr>
        <p:spPr>
          <a:xfrm>
            <a:off x="1552741" y="3391248"/>
            <a:ext cx="11021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Self Service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98B629-B6D4-A5BE-86D7-B549DD8B7CED}"/>
              </a:ext>
            </a:extLst>
          </p:cNvPr>
          <p:cNvSpPr txBox="1"/>
          <p:nvPr/>
        </p:nvSpPr>
        <p:spPr>
          <a:xfrm>
            <a:off x="5821291" y="2477154"/>
            <a:ext cx="184105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Withdraw to bank</a:t>
            </a:r>
          </a:p>
          <a:p>
            <a:endParaRPr lang="en-US" sz="1400" dirty="0">
              <a:solidFill>
                <a:srgbClr val="FF0000"/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Add Money</a:t>
            </a: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Transfer float to Print A/c</a:t>
            </a: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EVD</a:t>
            </a: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</a:endParaRPr>
          </a:p>
          <a:p>
            <a:r>
              <a:rPr lang="en-US" sz="1400" dirty="0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362BFE-006D-C57D-C869-81789262F139}"/>
              </a:ext>
            </a:extLst>
          </p:cNvPr>
          <p:cNvSpPr txBox="1"/>
          <p:nvPr/>
        </p:nvSpPr>
        <p:spPr>
          <a:xfrm>
            <a:off x="8948057" y="2129350"/>
            <a:ext cx="60960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Request Payment</a:t>
            </a:r>
          </a:p>
          <a:p>
            <a:endParaRPr lang="en-US" sz="1400" dirty="0">
              <a:solidFill>
                <a:srgbClr val="FF0000"/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Generate QR</a:t>
            </a: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Request to pay</a:t>
            </a: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Local payment via link</a:t>
            </a: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International card via link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BF7A67-48FB-7CEB-77D5-68A4ED4E7B84}"/>
              </a:ext>
            </a:extLst>
          </p:cNvPr>
          <p:cNvSpPr txBox="1"/>
          <p:nvPr/>
        </p:nvSpPr>
        <p:spPr>
          <a:xfrm>
            <a:off x="5780314" y="2245366"/>
            <a:ext cx="12333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Self Service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6A5B7C-F9BE-2440-C7D7-1B6B1A726D59}"/>
              </a:ext>
            </a:extLst>
          </p:cNvPr>
          <p:cNvSpPr txBox="1"/>
          <p:nvPr/>
        </p:nvSpPr>
        <p:spPr>
          <a:xfrm>
            <a:off x="1730993" y="1025060"/>
            <a:ext cx="34573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Working                                            Reward</a:t>
            </a:r>
          </a:p>
          <a:p>
            <a:r>
              <a:rPr lang="en-US" sz="1400" dirty="0"/>
              <a:t> </a:t>
            </a:r>
          </a:p>
          <a:p>
            <a:r>
              <a:rPr lang="en-US" sz="1400" dirty="0" err="1"/>
              <a:t>Mekoya</a:t>
            </a:r>
            <a:r>
              <a:rPr lang="en-US" sz="1400" dirty="0"/>
              <a:t>                                     Commission 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E39A549-8411-252F-6E91-0ECFD3246C4F}"/>
              </a:ext>
            </a:extLst>
          </p:cNvPr>
          <p:cNvSpPr/>
          <p:nvPr/>
        </p:nvSpPr>
        <p:spPr>
          <a:xfrm>
            <a:off x="1669838" y="1059228"/>
            <a:ext cx="3457333" cy="73866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289EE28-F624-89E9-6350-7E5688FD562B}"/>
              </a:ext>
            </a:extLst>
          </p:cNvPr>
          <p:cNvSpPr/>
          <p:nvPr/>
        </p:nvSpPr>
        <p:spPr>
          <a:xfrm>
            <a:off x="5311152" y="1075380"/>
            <a:ext cx="3457333" cy="73866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28F5B6C-0945-D7FC-BD15-2D9CD5363762}"/>
              </a:ext>
            </a:extLst>
          </p:cNvPr>
          <p:cNvSpPr txBox="1"/>
          <p:nvPr/>
        </p:nvSpPr>
        <p:spPr>
          <a:xfrm>
            <a:off x="6061518" y="1311383"/>
            <a:ext cx="22442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Print Account</a:t>
            </a:r>
          </a:p>
        </p:txBody>
      </p:sp>
    </p:spTree>
    <p:extLst>
      <p:ext uri="{BB962C8B-B14F-4D97-AF65-F5344CB8AC3E}">
        <p14:creationId xmlns:p14="http://schemas.microsoft.com/office/powerpoint/2010/main" val="10529673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A6503-EC4D-B572-3F5D-207715555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2A015-A19A-27E2-0EA7-2CF3A6C2C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2103437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dirty="0">
                <a:solidFill>
                  <a:srgbClr val="FF0000"/>
                </a:solidFill>
              </a:rPr>
              <a:t>Micro Merchant Product as an Assistant Operator</a:t>
            </a:r>
          </a:p>
        </p:txBody>
      </p:sp>
    </p:spTree>
    <p:extLst>
      <p:ext uri="{BB962C8B-B14F-4D97-AF65-F5344CB8AC3E}">
        <p14:creationId xmlns:p14="http://schemas.microsoft.com/office/powerpoint/2010/main" val="32079785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A4E42-0839-D25F-0EC9-F2B6E8CC6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>
            <a:extLst>
              <a:ext uri="{FF2B5EF4-FFF2-40B4-BE49-F238E27FC236}">
                <a16:creationId xmlns:a16="http://schemas.microsoft.com/office/drawing/2014/main" id="{8FFCEBAD-ABB9-8731-13AE-44012F5C3493}"/>
              </a:ext>
            </a:extLst>
          </p:cNvPr>
          <p:cNvSpPr txBox="1"/>
          <p:nvPr/>
        </p:nvSpPr>
        <p:spPr>
          <a:xfrm>
            <a:off x="1717658" y="274726"/>
            <a:ext cx="7025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Micro merchant/ Airtime channel classification or merchant type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9E2304-8D1F-1A7B-3A41-593D818E68D5}"/>
              </a:ext>
            </a:extLst>
          </p:cNvPr>
          <p:cNvSpPr/>
          <p:nvPr/>
        </p:nvSpPr>
        <p:spPr>
          <a:xfrm flipH="1" flipV="1">
            <a:off x="1389453" y="765676"/>
            <a:ext cx="4268550" cy="55589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CF42B0-36F9-BF3D-6454-959B65543139}"/>
              </a:ext>
            </a:extLst>
          </p:cNvPr>
          <p:cNvSpPr txBox="1"/>
          <p:nvPr/>
        </p:nvSpPr>
        <p:spPr>
          <a:xfrm>
            <a:off x="1552741" y="2406349"/>
            <a:ext cx="903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RequestPayment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A65D67-C5AE-641A-00FC-1C787A01DCDC}"/>
              </a:ext>
            </a:extLst>
          </p:cNvPr>
          <p:cNvSpPr txBox="1"/>
          <p:nvPr/>
        </p:nvSpPr>
        <p:spPr>
          <a:xfrm>
            <a:off x="2864469" y="2370081"/>
            <a:ext cx="903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Sell airtime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2C3CF1-271B-89AC-4A0A-8F3A5268EEB9}"/>
              </a:ext>
            </a:extLst>
          </p:cNvPr>
          <p:cNvSpPr txBox="1"/>
          <p:nvPr/>
        </p:nvSpPr>
        <p:spPr>
          <a:xfrm>
            <a:off x="4390354" y="2323914"/>
            <a:ext cx="11021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Sell  Package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85D00C-BB46-501B-9E2A-89B3BA8D5B4E}"/>
              </a:ext>
            </a:extLst>
          </p:cNvPr>
          <p:cNvSpPr txBox="1"/>
          <p:nvPr/>
        </p:nvSpPr>
        <p:spPr>
          <a:xfrm>
            <a:off x="1552741" y="3391248"/>
            <a:ext cx="11021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Self Service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0ACD61-5F4A-9F57-6030-53AD96F43F6D}"/>
              </a:ext>
            </a:extLst>
          </p:cNvPr>
          <p:cNvSpPr txBox="1"/>
          <p:nvPr/>
        </p:nvSpPr>
        <p:spPr>
          <a:xfrm>
            <a:off x="9327531" y="2712400"/>
            <a:ext cx="184105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dirty="0"/>
          </a:p>
          <a:p>
            <a:endParaRPr lang="en-US" sz="1400" dirty="0">
              <a:solidFill>
                <a:srgbClr val="FF0000"/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Add Money</a:t>
            </a: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Transfer float to Print A/c</a:t>
            </a: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EVD</a:t>
            </a: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</a:endParaRPr>
          </a:p>
          <a:p>
            <a:r>
              <a:rPr lang="en-US" sz="1400" dirty="0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6E9382-5B08-592A-9222-C8FB2E13AE75}"/>
              </a:ext>
            </a:extLst>
          </p:cNvPr>
          <p:cNvSpPr txBox="1"/>
          <p:nvPr/>
        </p:nvSpPr>
        <p:spPr>
          <a:xfrm>
            <a:off x="5860400" y="2499044"/>
            <a:ext cx="3076771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Request Payment</a:t>
            </a:r>
          </a:p>
          <a:p>
            <a:endParaRPr lang="en-US" sz="1400" dirty="0">
              <a:solidFill>
                <a:srgbClr val="FF0000"/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Generate QR</a:t>
            </a: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Request to pay</a:t>
            </a: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Local payment via link</a:t>
            </a: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International card via link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4E7F1C-1D6E-7818-63A1-329FE3AEC88E}"/>
              </a:ext>
            </a:extLst>
          </p:cNvPr>
          <p:cNvSpPr txBox="1"/>
          <p:nvPr/>
        </p:nvSpPr>
        <p:spPr>
          <a:xfrm>
            <a:off x="9288831" y="2558512"/>
            <a:ext cx="12333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Self Service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8670FF-73F0-3E5B-196B-10F182ECCFDF}"/>
              </a:ext>
            </a:extLst>
          </p:cNvPr>
          <p:cNvSpPr txBox="1"/>
          <p:nvPr/>
        </p:nvSpPr>
        <p:spPr>
          <a:xfrm>
            <a:off x="1730993" y="1025060"/>
            <a:ext cx="34573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Working                                            Reward</a:t>
            </a:r>
          </a:p>
          <a:p>
            <a:r>
              <a:rPr lang="en-US" sz="1400" dirty="0"/>
              <a:t> </a:t>
            </a:r>
          </a:p>
          <a:p>
            <a:r>
              <a:rPr lang="en-US" sz="1400" dirty="0" err="1"/>
              <a:t>Mekoya</a:t>
            </a:r>
            <a:r>
              <a:rPr lang="en-US" sz="1400" dirty="0"/>
              <a:t>                                     Commission 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5C350FC-1F20-FEE5-ACBD-3F8E6EBDA52C}"/>
              </a:ext>
            </a:extLst>
          </p:cNvPr>
          <p:cNvSpPr/>
          <p:nvPr/>
        </p:nvSpPr>
        <p:spPr>
          <a:xfrm>
            <a:off x="1669838" y="1059228"/>
            <a:ext cx="3457333" cy="73866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55B77EC-F348-669F-24FB-848C2F7E1F63}"/>
              </a:ext>
            </a:extLst>
          </p:cNvPr>
          <p:cNvSpPr/>
          <p:nvPr/>
        </p:nvSpPr>
        <p:spPr>
          <a:xfrm>
            <a:off x="5311152" y="1075380"/>
            <a:ext cx="3457333" cy="73866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0EDD16B-CC58-A58D-B02F-75FA520937C4}"/>
              </a:ext>
            </a:extLst>
          </p:cNvPr>
          <p:cNvSpPr txBox="1"/>
          <p:nvPr/>
        </p:nvSpPr>
        <p:spPr>
          <a:xfrm>
            <a:off x="6061518" y="1311383"/>
            <a:ext cx="22442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Print Account</a:t>
            </a:r>
          </a:p>
        </p:txBody>
      </p:sp>
    </p:spTree>
    <p:extLst>
      <p:ext uri="{BB962C8B-B14F-4D97-AF65-F5344CB8AC3E}">
        <p14:creationId xmlns:p14="http://schemas.microsoft.com/office/powerpoint/2010/main" val="11405863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9FADB-E7E8-8D00-0223-601125E25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F54B6-279A-2191-4907-7377BCF8D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2103437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dirty="0">
                <a:solidFill>
                  <a:srgbClr val="FF0000"/>
                </a:solidFill>
              </a:rPr>
              <a:t>Distribution Product with Primary Operator</a:t>
            </a:r>
          </a:p>
        </p:txBody>
      </p:sp>
    </p:spTree>
    <p:extLst>
      <p:ext uri="{BB962C8B-B14F-4D97-AF65-F5344CB8AC3E}">
        <p14:creationId xmlns:p14="http://schemas.microsoft.com/office/powerpoint/2010/main" val="5073822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89666-41B0-E4CC-D726-356FD21C8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7875D02-A54D-BD5B-0820-5D18BDFFAF28}"/>
              </a:ext>
            </a:extLst>
          </p:cNvPr>
          <p:cNvSpPr/>
          <p:nvPr/>
        </p:nvSpPr>
        <p:spPr>
          <a:xfrm flipH="1" flipV="1">
            <a:off x="423176" y="508662"/>
            <a:ext cx="3571876" cy="55589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795D05-3C1A-2A7C-F70F-F3D2FD899861}"/>
              </a:ext>
            </a:extLst>
          </p:cNvPr>
          <p:cNvSpPr txBox="1"/>
          <p:nvPr/>
        </p:nvSpPr>
        <p:spPr>
          <a:xfrm>
            <a:off x="1687284" y="1136326"/>
            <a:ext cx="90351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Check Store Balance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2A4A752-2DF9-1F58-1386-F6B9F34D7991}"/>
              </a:ext>
            </a:extLst>
          </p:cNvPr>
          <p:cNvSpPr txBox="1"/>
          <p:nvPr/>
        </p:nvSpPr>
        <p:spPr>
          <a:xfrm>
            <a:off x="919841" y="145970"/>
            <a:ext cx="5682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Distribution HO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30D4AF-4F73-D9B9-0965-13FADBD4BFAB}"/>
              </a:ext>
            </a:extLst>
          </p:cNvPr>
          <p:cNvSpPr txBox="1"/>
          <p:nvPr/>
        </p:nvSpPr>
        <p:spPr>
          <a:xfrm>
            <a:off x="4468584" y="145970"/>
            <a:ext cx="5682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Distribution Shop manager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E0206B-F92A-6A84-7D3B-2F01D1021E35}"/>
              </a:ext>
            </a:extLst>
          </p:cNvPr>
          <p:cNvSpPr/>
          <p:nvPr/>
        </p:nvSpPr>
        <p:spPr>
          <a:xfrm flipH="1" flipV="1">
            <a:off x="4343393" y="515301"/>
            <a:ext cx="3031680" cy="55589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7DF05A-C5CF-9BC5-DBFA-7E0C4A33E14B}"/>
              </a:ext>
            </a:extLst>
          </p:cNvPr>
          <p:cNvSpPr/>
          <p:nvPr/>
        </p:nvSpPr>
        <p:spPr>
          <a:xfrm flipH="1" flipV="1">
            <a:off x="8235038" y="515302"/>
            <a:ext cx="2906489" cy="55589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0615B2-95A0-B8D2-8F3E-81A6011050CE}"/>
              </a:ext>
            </a:extLst>
          </p:cNvPr>
          <p:cNvSpPr txBox="1"/>
          <p:nvPr/>
        </p:nvSpPr>
        <p:spPr>
          <a:xfrm>
            <a:off x="8256811" y="1212427"/>
            <a:ext cx="9035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Sell Float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E33CA0-5AC2-1C79-A8DF-2EE8F8B9B4DE}"/>
              </a:ext>
            </a:extLst>
          </p:cNvPr>
          <p:cNvSpPr txBox="1"/>
          <p:nvPr/>
        </p:nvSpPr>
        <p:spPr>
          <a:xfrm>
            <a:off x="10504716" y="1185748"/>
            <a:ext cx="9035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EVD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7E9F59-1F99-F36B-4C69-DFB189D66A52}"/>
              </a:ext>
            </a:extLst>
          </p:cNvPr>
          <p:cNvSpPr txBox="1"/>
          <p:nvPr/>
        </p:nvSpPr>
        <p:spPr>
          <a:xfrm>
            <a:off x="9350828" y="158125"/>
            <a:ext cx="5682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DSA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CFC545-3D34-5378-8846-C4D138B03325}"/>
              </a:ext>
            </a:extLst>
          </p:cNvPr>
          <p:cNvSpPr txBox="1"/>
          <p:nvPr/>
        </p:nvSpPr>
        <p:spPr>
          <a:xfrm>
            <a:off x="555169" y="1176504"/>
            <a:ext cx="11239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Distribute Float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15A08FB-2B4D-2B00-D439-DFFBB12585CC}"/>
              </a:ext>
            </a:extLst>
          </p:cNvPr>
          <p:cNvSpPr txBox="1"/>
          <p:nvPr/>
        </p:nvSpPr>
        <p:spPr>
          <a:xfrm>
            <a:off x="4333870" y="1136326"/>
            <a:ext cx="11239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Distribute Float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7CC6DF1-7EE2-E12B-E75A-AEC495DA6807}"/>
              </a:ext>
            </a:extLst>
          </p:cNvPr>
          <p:cNvSpPr txBox="1"/>
          <p:nvPr/>
        </p:nvSpPr>
        <p:spPr>
          <a:xfrm>
            <a:off x="5520415" y="1136326"/>
            <a:ext cx="90351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Check Store Balance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7D135E-5DBA-9679-A5CD-E1257413A444}"/>
              </a:ext>
            </a:extLst>
          </p:cNvPr>
          <p:cNvSpPr txBox="1"/>
          <p:nvPr/>
        </p:nvSpPr>
        <p:spPr>
          <a:xfrm>
            <a:off x="6697437" y="1188942"/>
            <a:ext cx="9035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EVD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F92EE8-BBDB-3109-40CE-CF3B428EFCE3}"/>
              </a:ext>
            </a:extLst>
          </p:cNvPr>
          <p:cNvSpPr txBox="1"/>
          <p:nvPr/>
        </p:nvSpPr>
        <p:spPr>
          <a:xfrm>
            <a:off x="2779934" y="1160646"/>
            <a:ext cx="11239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Sell float to print A/c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999E87-7370-1DB0-E534-5CB4F65F9140}"/>
              </a:ext>
            </a:extLst>
          </p:cNvPr>
          <p:cNvSpPr txBox="1"/>
          <p:nvPr/>
        </p:nvSpPr>
        <p:spPr>
          <a:xfrm>
            <a:off x="4343393" y="2414863"/>
            <a:ext cx="14369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Sell Float to print A/C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FC401D3-646C-6EB5-8C29-5C916A7A1BF7}"/>
              </a:ext>
            </a:extLst>
          </p:cNvPr>
          <p:cNvSpPr txBox="1"/>
          <p:nvPr/>
        </p:nvSpPr>
        <p:spPr>
          <a:xfrm>
            <a:off x="8256811" y="1212427"/>
            <a:ext cx="90351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Sell Float to Working A/C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0943078-C636-6031-125A-F32A4256BC7C}"/>
              </a:ext>
            </a:extLst>
          </p:cNvPr>
          <p:cNvSpPr txBox="1"/>
          <p:nvPr/>
        </p:nvSpPr>
        <p:spPr>
          <a:xfrm>
            <a:off x="9280066" y="1160646"/>
            <a:ext cx="90351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Sell Float to print A/C</a:t>
            </a:r>
          </a:p>
        </p:txBody>
      </p:sp>
    </p:spTree>
    <p:extLst>
      <p:ext uri="{BB962C8B-B14F-4D97-AF65-F5344CB8AC3E}">
        <p14:creationId xmlns:p14="http://schemas.microsoft.com/office/powerpoint/2010/main" val="16256252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EB863-B051-CFC8-99C0-6EB2ED4FD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F4BA2-360D-35B4-55ED-021028225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2103437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dirty="0">
                <a:solidFill>
                  <a:srgbClr val="FF0000"/>
                </a:solidFill>
              </a:rPr>
              <a:t>Distribution Product with Assistant Operator</a:t>
            </a:r>
          </a:p>
        </p:txBody>
      </p:sp>
    </p:spTree>
    <p:extLst>
      <p:ext uri="{BB962C8B-B14F-4D97-AF65-F5344CB8AC3E}">
        <p14:creationId xmlns:p14="http://schemas.microsoft.com/office/powerpoint/2010/main" val="18872273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CD89A-7523-BB19-863F-DD9C44768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BE99CAE-9D38-5DF2-4E7F-22899D851949}"/>
              </a:ext>
            </a:extLst>
          </p:cNvPr>
          <p:cNvSpPr/>
          <p:nvPr/>
        </p:nvSpPr>
        <p:spPr>
          <a:xfrm flipH="1" flipV="1">
            <a:off x="423176" y="508662"/>
            <a:ext cx="3571876" cy="55589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C70385-D44D-589A-AD9B-D8F1E4AC11E5}"/>
              </a:ext>
            </a:extLst>
          </p:cNvPr>
          <p:cNvSpPr txBox="1"/>
          <p:nvPr/>
        </p:nvSpPr>
        <p:spPr>
          <a:xfrm>
            <a:off x="919841" y="145970"/>
            <a:ext cx="5682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Distribution HO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EFB6D9-C9DF-4C10-7E66-44BF3BFBC0D7}"/>
              </a:ext>
            </a:extLst>
          </p:cNvPr>
          <p:cNvSpPr txBox="1"/>
          <p:nvPr/>
        </p:nvSpPr>
        <p:spPr>
          <a:xfrm>
            <a:off x="4468584" y="145970"/>
            <a:ext cx="5682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Distribution Shop manager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9B6B89-C306-636E-DDCF-67CB38BCB580}"/>
              </a:ext>
            </a:extLst>
          </p:cNvPr>
          <p:cNvSpPr/>
          <p:nvPr/>
        </p:nvSpPr>
        <p:spPr>
          <a:xfrm flipH="1" flipV="1">
            <a:off x="4343393" y="515301"/>
            <a:ext cx="3031680" cy="55589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034A47-07E8-D05D-FD4B-F1A6B838B22A}"/>
              </a:ext>
            </a:extLst>
          </p:cNvPr>
          <p:cNvSpPr/>
          <p:nvPr/>
        </p:nvSpPr>
        <p:spPr>
          <a:xfrm flipH="1" flipV="1">
            <a:off x="8235038" y="515302"/>
            <a:ext cx="2906489" cy="55589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B0B540-94D7-4810-70D7-8020D47D2AD3}"/>
              </a:ext>
            </a:extLst>
          </p:cNvPr>
          <p:cNvSpPr txBox="1"/>
          <p:nvPr/>
        </p:nvSpPr>
        <p:spPr>
          <a:xfrm>
            <a:off x="8256811" y="1212427"/>
            <a:ext cx="9035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Sell Float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90D787-4991-FA61-89F9-33459DE46BC5}"/>
              </a:ext>
            </a:extLst>
          </p:cNvPr>
          <p:cNvSpPr txBox="1"/>
          <p:nvPr/>
        </p:nvSpPr>
        <p:spPr>
          <a:xfrm>
            <a:off x="10453003" y="1185146"/>
            <a:ext cx="9035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EVD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F32E3B-9C2B-C0F0-932F-96A862D7DD5D}"/>
              </a:ext>
            </a:extLst>
          </p:cNvPr>
          <p:cNvSpPr txBox="1"/>
          <p:nvPr/>
        </p:nvSpPr>
        <p:spPr>
          <a:xfrm>
            <a:off x="9350828" y="158125"/>
            <a:ext cx="5682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DSA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B405D4-B40E-61D5-B74B-49AAE12DBF48}"/>
              </a:ext>
            </a:extLst>
          </p:cNvPr>
          <p:cNvSpPr txBox="1"/>
          <p:nvPr/>
        </p:nvSpPr>
        <p:spPr>
          <a:xfrm>
            <a:off x="555169" y="1176504"/>
            <a:ext cx="11239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Distribute Float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56C4ACE-4717-15B9-D583-578B01246C6C}"/>
              </a:ext>
            </a:extLst>
          </p:cNvPr>
          <p:cNvSpPr txBox="1"/>
          <p:nvPr/>
        </p:nvSpPr>
        <p:spPr>
          <a:xfrm>
            <a:off x="4333870" y="1136326"/>
            <a:ext cx="11239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Distribute Float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DE884B-53F2-7B50-F96B-A6F33DBDFBD3}"/>
              </a:ext>
            </a:extLst>
          </p:cNvPr>
          <p:cNvSpPr txBox="1"/>
          <p:nvPr/>
        </p:nvSpPr>
        <p:spPr>
          <a:xfrm>
            <a:off x="6697437" y="1188942"/>
            <a:ext cx="9035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EVD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351EC4-D64C-C8D4-8821-7EB8AD1E87D7}"/>
              </a:ext>
            </a:extLst>
          </p:cNvPr>
          <p:cNvSpPr txBox="1"/>
          <p:nvPr/>
        </p:nvSpPr>
        <p:spPr>
          <a:xfrm>
            <a:off x="2037656" y="1136326"/>
            <a:ext cx="11239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Sell float to print A/c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FEA07D-4F1D-62C8-E863-08DA32793A25}"/>
              </a:ext>
            </a:extLst>
          </p:cNvPr>
          <p:cNvSpPr txBox="1"/>
          <p:nvPr/>
        </p:nvSpPr>
        <p:spPr>
          <a:xfrm>
            <a:off x="5479597" y="1081220"/>
            <a:ext cx="14369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Sell Float to print A/C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3281A1-3ED1-38C6-C20D-1BA2F87D4450}"/>
              </a:ext>
            </a:extLst>
          </p:cNvPr>
          <p:cNvSpPr txBox="1"/>
          <p:nvPr/>
        </p:nvSpPr>
        <p:spPr>
          <a:xfrm>
            <a:off x="8256811" y="1212427"/>
            <a:ext cx="90351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Sell Float to Working A/C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7EA157-2B24-3885-1154-0998FB33ABD1}"/>
              </a:ext>
            </a:extLst>
          </p:cNvPr>
          <p:cNvSpPr txBox="1"/>
          <p:nvPr/>
        </p:nvSpPr>
        <p:spPr>
          <a:xfrm>
            <a:off x="9280066" y="1160646"/>
            <a:ext cx="90351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Sell Float to print A/C</a:t>
            </a:r>
          </a:p>
        </p:txBody>
      </p:sp>
    </p:spTree>
    <p:extLst>
      <p:ext uri="{BB962C8B-B14F-4D97-AF65-F5344CB8AC3E}">
        <p14:creationId xmlns:p14="http://schemas.microsoft.com/office/powerpoint/2010/main" val="31682481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B90A1-1770-9F32-8BEF-73EB2E505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>
            <a:extLst>
              <a:ext uri="{FF2B5EF4-FFF2-40B4-BE49-F238E27FC236}">
                <a16:creationId xmlns:a16="http://schemas.microsoft.com/office/drawing/2014/main" id="{BF3C0241-E8DC-1F5A-9F5B-8CFCB95D6585}"/>
              </a:ext>
            </a:extLst>
          </p:cNvPr>
          <p:cNvSpPr txBox="1"/>
          <p:nvPr/>
        </p:nvSpPr>
        <p:spPr>
          <a:xfrm>
            <a:off x="1717657" y="263840"/>
            <a:ext cx="9084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Agency banking classification/ for unified independent and Unified own store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82F6EF-6476-67F8-CACD-22D0A0E77D8D}"/>
              </a:ext>
            </a:extLst>
          </p:cNvPr>
          <p:cNvSpPr/>
          <p:nvPr/>
        </p:nvSpPr>
        <p:spPr>
          <a:xfrm flipH="1" flipV="1">
            <a:off x="1389453" y="765676"/>
            <a:ext cx="4268550" cy="55589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501BB2-CDE1-29FF-011D-3B9BEEC74DEF}"/>
              </a:ext>
            </a:extLst>
          </p:cNvPr>
          <p:cNvSpPr txBox="1"/>
          <p:nvPr/>
        </p:nvSpPr>
        <p:spPr>
          <a:xfrm>
            <a:off x="1552741" y="1404259"/>
            <a:ext cx="903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Transfer to bank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93190A-AEC7-C154-91D6-BCB3F2636C17}"/>
              </a:ext>
            </a:extLst>
          </p:cNvPr>
          <p:cNvSpPr txBox="1"/>
          <p:nvPr/>
        </p:nvSpPr>
        <p:spPr>
          <a:xfrm>
            <a:off x="4231470" y="1404259"/>
            <a:ext cx="11021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Deposit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6D61BC-058F-FE09-B533-3928D95BDBD3}"/>
              </a:ext>
            </a:extLst>
          </p:cNvPr>
          <p:cNvSpPr txBox="1"/>
          <p:nvPr/>
        </p:nvSpPr>
        <p:spPr>
          <a:xfrm>
            <a:off x="2881378" y="1379017"/>
            <a:ext cx="11021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Assisted Payment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9B72F2-AE34-DAE1-BAF7-26841B32C169}"/>
              </a:ext>
            </a:extLst>
          </p:cNvPr>
          <p:cNvSpPr txBox="1"/>
          <p:nvPr/>
        </p:nvSpPr>
        <p:spPr>
          <a:xfrm>
            <a:off x="1552741" y="2534840"/>
            <a:ext cx="11021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Self Service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4FB9D6-856A-2F3A-EB0C-C174577F03F7}"/>
              </a:ext>
            </a:extLst>
          </p:cNvPr>
          <p:cNvSpPr txBox="1"/>
          <p:nvPr/>
        </p:nvSpPr>
        <p:spPr>
          <a:xfrm>
            <a:off x="5884739" y="765676"/>
            <a:ext cx="23766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Assisted Payment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0C641E-3BBC-1832-D1B1-F1958B9492C9}"/>
              </a:ext>
            </a:extLst>
          </p:cNvPr>
          <p:cNvSpPr txBox="1"/>
          <p:nvPr/>
        </p:nvSpPr>
        <p:spPr>
          <a:xfrm>
            <a:off x="5884739" y="1178949"/>
            <a:ext cx="184105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School Payment</a:t>
            </a: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Water </a:t>
            </a: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EEU</a:t>
            </a: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dirty="0"/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C9F0D8-E5CB-0D24-8737-4FAF82341DFB}"/>
              </a:ext>
            </a:extLst>
          </p:cNvPr>
          <p:cNvSpPr txBox="1"/>
          <p:nvPr/>
        </p:nvSpPr>
        <p:spPr>
          <a:xfrm>
            <a:off x="5917334" y="2323914"/>
            <a:ext cx="12333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Self Service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4D2872-4CE9-CA0A-BEA0-8AC0A9A60A60}"/>
              </a:ext>
            </a:extLst>
          </p:cNvPr>
          <p:cNvSpPr txBox="1"/>
          <p:nvPr/>
        </p:nvSpPr>
        <p:spPr>
          <a:xfrm>
            <a:off x="5917334" y="2677968"/>
            <a:ext cx="184105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Withdraw to my own bank</a:t>
            </a:r>
          </a:p>
          <a:p>
            <a:endParaRPr lang="en-US" sz="1400" dirty="0">
              <a:solidFill>
                <a:srgbClr val="FF0000"/>
              </a:solidFill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Add Money</a:t>
            </a: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</a:endParaRPr>
          </a:p>
          <a:p>
            <a:r>
              <a:rPr 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862174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7168</TotalTime>
  <Words>958</Words>
  <Application>Microsoft Office PowerPoint</Application>
  <PresentationFormat>Widescreen</PresentationFormat>
  <Paragraphs>525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Aptos</vt:lpstr>
      <vt:lpstr>Aptos Display</vt:lpstr>
      <vt:lpstr>Arial</vt:lpstr>
      <vt:lpstr>Office Theme</vt:lpstr>
      <vt:lpstr>Unified Product as  Primary Operator and Finance Operator</vt:lpstr>
      <vt:lpstr>PowerPoint Presentation</vt:lpstr>
      <vt:lpstr>PowerPoint Presentation</vt:lpstr>
      <vt:lpstr>PowerPoint Presentation</vt:lpstr>
      <vt:lpstr>Unified Product as an Assistant Operator</vt:lpstr>
      <vt:lpstr>PowerPoint Presentation</vt:lpstr>
      <vt:lpstr>PowerPoint Presentation</vt:lpstr>
      <vt:lpstr>PowerPoint Presentation</vt:lpstr>
      <vt:lpstr>Large and Medium Merchant Product with Primary and Finance Operator</vt:lpstr>
      <vt:lpstr>PowerPoint Presentation</vt:lpstr>
      <vt:lpstr>PowerPoint Presentation</vt:lpstr>
      <vt:lpstr>PowerPoint Presentation</vt:lpstr>
      <vt:lpstr>PowerPoint Presentation</vt:lpstr>
      <vt:lpstr>Large and Medium Merchant Product as an Assistant Operator</vt:lpstr>
      <vt:lpstr>PowerPoint Presentation</vt:lpstr>
      <vt:lpstr>PowerPoint Presentation</vt:lpstr>
      <vt:lpstr>PowerPoint Presentation</vt:lpstr>
      <vt:lpstr>PowerPoint Presentation</vt:lpstr>
      <vt:lpstr>Micro Merchant Product with Primary and Finance Operator</vt:lpstr>
      <vt:lpstr>PowerPoint Presentation</vt:lpstr>
      <vt:lpstr>Micro Merchant Product as an Assistant Operator</vt:lpstr>
      <vt:lpstr>PowerPoint Presentation</vt:lpstr>
      <vt:lpstr>Distribution Product with Primary Operator</vt:lpstr>
      <vt:lpstr>PowerPoint Presentation</vt:lpstr>
      <vt:lpstr>Distribution Product with Assistant Operator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Melat Ambaye</dc:creator>
  <cp:lastModifiedBy>Mikias Dereje</cp:lastModifiedBy>
  <cp:revision>156</cp:revision>
  <dcterms:created xsi:type="dcterms:W3CDTF">2025-12-09T12:57:03Z</dcterms:created>
  <dcterms:modified xsi:type="dcterms:W3CDTF">2026-09-19T20:55:58Z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2e8e163-2ca8-4ef5-8bd5-902f0a065130_Enabled">
    <vt:lpwstr>true</vt:lpwstr>
  </property>
  <property fmtid="{D5CDD505-2E9C-101B-9397-08002B2CF9AE}" pid="3" name="MSIP_Label_82e8e163-2ca8-4ef5-8bd5-902f0a065130_SetDate">
    <vt:lpwstr>2026-09-19T20:55:53Z</vt:lpwstr>
  </property>
  <property fmtid="{D5CDD505-2E9C-101B-9397-08002B2CF9AE}" pid="4" name="MSIP_Label_82e8e163-2ca8-4ef5-8bd5-902f0a065130_Method">
    <vt:lpwstr>Privileged</vt:lpwstr>
  </property>
  <property fmtid="{D5CDD505-2E9C-101B-9397-08002B2CF9AE}" pid="5" name="MSIP_Label_82e8e163-2ca8-4ef5-8bd5-902f0a065130_Name">
    <vt:lpwstr>C0 Personal</vt:lpwstr>
  </property>
  <property fmtid="{D5CDD505-2E9C-101B-9397-08002B2CF9AE}" pid="6" name="MSIP_Label_82e8e163-2ca8-4ef5-8bd5-902f0a065130_SiteId">
    <vt:lpwstr>5e563b91-9daf-498a-b342-4ad22c029ea1</vt:lpwstr>
  </property>
  <property fmtid="{D5CDD505-2E9C-101B-9397-08002B2CF9AE}" pid="7" name="MSIP_Label_82e8e163-2ca8-4ef5-8bd5-902f0a065130_ActionId">
    <vt:lpwstr>b25aeedc-abbe-4161-91c6-413f800d29e7</vt:lpwstr>
  </property>
  <property fmtid="{D5CDD505-2E9C-101B-9397-08002B2CF9AE}" pid="8" name="MSIP_Label_82e8e163-2ca8-4ef5-8bd5-902f0a065130_ContentBits">
    <vt:lpwstr>2</vt:lpwstr>
  </property>
  <property fmtid="{D5CDD505-2E9C-101B-9397-08002B2CF9AE}" pid="9" name="MSIP_Label_82e8e163-2ca8-4ef5-8bd5-902f0a065130_Tag">
    <vt:lpwstr>10, 0, 1, 1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C0 - Personal Information</vt:lpwstr>
  </property>
</Properties>
</file>